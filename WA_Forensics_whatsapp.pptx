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731520"/>
            <a:ext cx="365760" cy="10973"/>
          </a:xfrm>
          <a:prstGeom prst="rect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49040" y="731520"/>
            <a:ext cx="365760" cy="10973"/>
          </a:xfrm>
          <a:prstGeom prst="rect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731520"/>
            <a:ext cx="365760" cy="10973"/>
          </a:xfrm>
          <a:prstGeom prst="rect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694944"/>
            <a:ext cx="73152" cy="73152"/>
          </a:xfrm>
          <a:prstGeom prst="ellipse">
            <a:avLst/>
          </a:prstGeom>
          <a:solidFill>
            <a:srgbClr val="1D4ED8">
              <a:alpha val="27000"/>
            </a:srgbClr>
          </a:solidFill>
          <a:ln w="12700">
            <a:solidFill>
              <a:srgbClr val="1D4ED8">
                <a:alpha val="2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07024" y="694944"/>
            <a:ext cx="73152" cy="73152"/>
          </a:xfrm>
          <a:prstGeom prst="ellipse">
            <a:avLst/>
          </a:prstGeom>
          <a:solidFill>
            <a:srgbClr val="1D4ED8">
              <a:alpha val="27000"/>
            </a:srgbClr>
          </a:solidFill>
          <a:ln w="12700">
            <a:solidFill>
              <a:srgbClr val="1D4ED8">
                <a:alpha val="2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463040"/>
            <a:ext cx="731520" cy="10973"/>
          </a:xfrm>
          <a:prstGeom prst="rect">
            <a:avLst/>
          </a:prstGeom>
          <a:solidFill>
            <a:srgbClr val="059669">
              <a:alpha val="22000"/>
            </a:srgbClr>
          </a:solidFill>
          <a:ln w="12700">
            <a:solidFill>
              <a:srgbClr val="059669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1463040"/>
            <a:ext cx="731520" cy="10973"/>
          </a:xfrm>
          <a:prstGeom prst="rect">
            <a:avLst/>
          </a:prstGeom>
          <a:solidFill>
            <a:srgbClr val="059669">
              <a:alpha val="22000"/>
            </a:srgbClr>
          </a:solidFill>
          <a:ln w="12700">
            <a:solidFill>
              <a:srgbClr val="059669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35424" y="1426464"/>
            <a:ext cx="73152" cy="73152"/>
          </a:xfrm>
          <a:prstGeom prst="ellipse">
            <a:avLst/>
          </a:prstGeom>
          <a:solidFill>
            <a:srgbClr val="059669">
              <a:alpha val="27000"/>
            </a:srgbClr>
          </a:solidFill>
          <a:ln w="12700">
            <a:solidFill>
              <a:srgbClr val="059669">
                <a:alpha val="2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286000"/>
            <a:ext cx="548640" cy="10973"/>
          </a:xfrm>
          <a:prstGeom prst="rect">
            <a:avLst/>
          </a:prstGeom>
          <a:solidFill>
            <a:srgbClr val="EA580C">
              <a:alpha val="22000"/>
            </a:srgbClr>
          </a:solidFill>
          <a:ln w="12700">
            <a:solidFill>
              <a:srgbClr val="EA580C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2286000"/>
            <a:ext cx="548640" cy="10973"/>
          </a:xfrm>
          <a:prstGeom prst="rect">
            <a:avLst/>
          </a:prstGeom>
          <a:solidFill>
            <a:srgbClr val="EA580C">
              <a:alpha val="22000"/>
            </a:srgbClr>
          </a:solidFill>
          <a:ln w="12700">
            <a:solidFill>
              <a:srgbClr val="EA580C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2286000"/>
            <a:ext cx="548640" cy="10973"/>
          </a:xfrm>
          <a:prstGeom prst="rect">
            <a:avLst/>
          </a:prstGeom>
          <a:solidFill>
            <a:srgbClr val="EA580C">
              <a:alpha val="22000"/>
            </a:srgbClr>
          </a:solidFill>
          <a:ln w="12700">
            <a:solidFill>
              <a:srgbClr val="EA580C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63824" y="2249424"/>
            <a:ext cx="73152" cy="73152"/>
          </a:xfrm>
          <a:prstGeom prst="ellipse">
            <a:avLst/>
          </a:prstGeom>
          <a:solidFill>
            <a:srgbClr val="EA580C">
              <a:alpha val="27000"/>
            </a:srgbClr>
          </a:solidFill>
          <a:ln w="12700">
            <a:solidFill>
              <a:srgbClr val="EA580C">
                <a:alpha val="2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3108960"/>
            <a:ext cx="365760" cy="10973"/>
          </a:xfrm>
          <a:prstGeom prst="rect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3108960"/>
            <a:ext cx="365760" cy="10973"/>
          </a:xfrm>
          <a:prstGeom prst="rect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3108960"/>
            <a:ext cx="365760" cy="10973"/>
          </a:xfrm>
          <a:prstGeom prst="rect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00784" y="3072384"/>
            <a:ext cx="73152" cy="73152"/>
          </a:xfrm>
          <a:prstGeom prst="ellipse">
            <a:avLst/>
          </a:prstGeom>
          <a:solidFill>
            <a:srgbClr val="1D4ED8">
              <a:alpha val="27000"/>
            </a:srgbClr>
          </a:solidFill>
          <a:ln w="12700">
            <a:solidFill>
              <a:srgbClr val="1D4ED8">
                <a:alpha val="2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61504" y="3072384"/>
            <a:ext cx="73152" cy="73152"/>
          </a:xfrm>
          <a:prstGeom prst="ellipse">
            <a:avLst/>
          </a:prstGeom>
          <a:solidFill>
            <a:srgbClr val="1D4ED8">
              <a:alpha val="27000"/>
            </a:srgbClr>
          </a:solidFill>
          <a:ln w="12700">
            <a:solidFill>
              <a:srgbClr val="1D4ED8">
                <a:alpha val="2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3840480"/>
            <a:ext cx="731520" cy="10973"/>
          </a:xfrm>
          <a:prstGeom prst="rect">
            <a:avLst/>
          </a:prstGeom>
          <a:solidFill>
            <a:srgbClr val="059669">
              <a:alpha val="22000"/>
            </a:srgbClr>
          </a:solidFill>
          <a:ln w="12700">
            <a:solidFill>
              <a:srgbClr val="059669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3840480"/>
            <a:ext cx="731520" cy="10973"/>
          </a:xfrm>
          <a:prstGeom prst="rect">
            <a:avLst/>
          </a:prstGeom>
          <a:solidFill>
            <a:srgbClr val="059669">
              <a:alpha val="22000"/>
            </a:srgbClr>
          </a:solidFill>
          <a:ln w="12700">
            <a:solidFill>
              <a:srgbClr val="059669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" y="3803904"/>
            <a:ext cx="73152" cy="73152"/>
          </a:xfrm>
          <a:prstGeom prst="ellipse">
            <a:avLst/>
          </a:prstGeom>
          <a:solidFill>
            <a:srgbClr val="059669">
              <a:alpha val="27000"/>
            </a:srgbClr>
          </a:solidFill>
          <a:ln w="12700">
            <a:solidFill>
              <a:srgbClr val="059669">
                <a:alpha val="2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07024" y="3803904"/>
            <a:ext cx="73152" cy="73152"/>
          </a:xfrm>
          <a:prstGeom prst="ellipse">
            <a:avLst/>
          </a:prstGeom>
          <a:solidFill>
            <a:srgbClr val="059669">
              <a:alpha val="27000"/>
            </a:srgbClr>
          </a:solidFill>
          <a:ln w="12700">
            <a:solidFill>
              <a:srgbClr val="059669">
                <a:alpha val="2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4572000"/>
            <a:ext cx="548640" cy="10973"/>
          </a:xfrm>
          <a:prstGeom prst="rect">
            <a:avLst/>
          </a:prstGeom>
          <a:solidFill>
            <a:srgbClr val="EA580C">
              <a:alpha val="22000"/>
            </a:srgbClr>
          </a:solidFill>
          <a:ln w="12700">
            <a:solidFill>
              <a:srgbClr val="EA580C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4572000"/>
            <a:ext cx="548640" cy="10973"/>
          </a:xfrm>
          <a:prstGeom prst="rect">
            <a:avLst/>
          </a:prstGeom>
          <a:solidFill>
            <a:srgbClr val="EA580C">
              <a:alpha val="22000"/>
            </a:srgbClr>
          </a:solidFill>
          <a:ln w="12700">
            <a:solidFill>
              <a:srgbClr val="EA580C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4572000"/>
            <a:ext cx="548640" cy="10973"/>
          </a:xfrm>
          <a:prstGeom prst="rect">
            <a:avLst/>
          </a:prstGeom>
          <a:solidFill>
            <a:srgbClr val="EA580C">
              <a:alpha val="22000"/>
            </a:srgbClr>
          </a:solidFill>
          <a:ln w="12700">
            <a:solidFill>
              <a:srgbClr val="EA580C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35424" y="4535424"/>
            <a:ext cx="73152" cy="73152"/>
          </a:xfrm>
          <a:prstGeom prst="ellipse">
            <a:avLst/>
          </a:prstGeom>
          <a:solidFill>
            <a:srgbClr val="EA580C">
              <a:alpha val="27000"/>
            </a:srgbClr>
          </a:solidFill>
          <a:ln w="12700">
            <a:solidFill>
              <a:srgbClr val="EA580C">
                <a:alpha val="2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37360" y="731520"/>
            <a:ext cx="10973" cy="731520"/>
          </a:xfrm>
          <a:prstGeom prst="rect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2286000"/>
            <a:ext cx="10973" cy="822960"/>
          </a:xfrm>
          <a:prstGeom prst="rect">
            <a:avLst/>
          </a:prstGeom>
          <a:solidFill>
            <a:srgbClr val="059669">
              <a:alpha val="22000"/>
            </a:srgbClr>
          </a:solidFill>
          <a:ln w="12700">
            <a:solidFill>
              <a:srgbClr val="059669">
                <a:alpha val="2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3840480"/>
            <a:ext cx="10973" cy="731520"/>
          </a:xfrm>
          <a:prstGeom prst="rect">
            <a:avLst/>
          </a:prstGeom>
          <a:solidFill>
            <a:srgbClr val="EA580C">
              <a:alpha val="22000"/>
            </a:srgbClr>
          </a:solidFill>
          <a:ln w="12700">
            <a:solidFill>
              <a:srgbClr val="EA580C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1463040"/>
            <a:ext cx="10973" cy="822960"/>
          </a:xfrm>
          <a:prstGeom prst="rect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274320"/>
            <a:ext cx="164592" cy="164592"/>
          </a:xfrm>
          <a:prstGeom prst="rect">
            <a:avLst/>
          </a:prstGeom>
          <a:solidFill>
            <a:srgbClr val="1D4ED8">
              <a:alpha val="17000"/>
            </a:srgbClr>
          </a:solidFill>
          <a:ln w="12700">
            <a:solidFill>
              <a:srgbClr val="059669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365760"/>
            <a:ext cx="164592" cy="164592"/>
          </a:xfrm>
          <a:prstGeom prst="rect">
            <a:avLst/>
          </a:prstGeom>
          <a:solidFill>
            <a:srgbClr val="1D4ED8">
              <a:alpha val="17000"/>
            </a:srgbClr>
          </a:solidFill>
          <a:ln w="12700">
            <a:solidFill>
              <a:srgbClr val="059669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389120"/>
            <a:ext cx="164592" cy="164592"/>
          </a:xfrm>
          <a:prstGeom prst="rect">
            <a:avLst/>
          </a:prstGeom>
          <a:solidFill>
            <a:srgbClr val="1D4ED8">
              <a:alpha val="17000"/>
            </a:srgbClr>
          </a:solidFill>
          <a:ln w="12700">
            <a:solidFill>
              <a:srgbClr val="059669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4572000"/>
            <a:ext cx="164592" cy="164592"/>
          </a:xfrm>
          <a:prstGeom prst="rect">
            <a:avLst/>
          </a:prstGeom>
          <a:solidFill>
            <a:srgbClr val="1D4ED8">
              <a:alpha val="17000"/>
            </a:srgbClr>
          </a:solidFill>
          <a:ln w="12700">
            <a:solidFill>
              <a:srgbClr val="059669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89120" y="182880"/>
            <a:ext cx="164592" cy="164592"/>
          </a:xfrm>
          <a:prstGeom prst="rect">
            <a:avLst/>
          </a:prstGeom>
          <a:solidFill>
            <a:srgbClr val="1D4ED8">
              <a:alpha val="17000"/>
            </a:srgbClr>
          </a:solidFill>
          <a:ln w="12700">
            <a:solidFill>
              <a:srgbClr val="059669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0560" y="4663440"/>
            <a:ext cx="164592" cy="164592"/>
          </a:xfrm>
          <a:prstGeom prst="rect">
            <a:avLst/>
          </a:prstGeom>
          <a:solidFill>
            <a:srgbClr val="1D4ED8">
              <a:alpha val="17000"/>
            </a:srgbClr>
          </a:solidFill>
          <a:ln w="12700">
            <a:solidFill>
              <a:srgbClr val="059669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74720" y="502920"/>
            <a:ext cx="2194560" cy="2194560"/>
          </a:xfrm>
          <a:prstGeom prst="ellipse">
            <a:avLst/>
          </a:prstGeom>
          <a:solidFill>
            <a:srgbClr val="1D4ED8">
              <a:alpha val="20000"/>
            </a:srgbClr>
          </a:solidFill>
          <a:ln w="12700">
            <a:solidFill>
              <a:srgbClr val="1D4ED8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0" y="731520"/>
            <a:ext cx="1645920" cy="1645920"/>
          </a:xfrm>
          <a:prstGeom prst="ellipse">
            <a:avLst/>
          </a:prstGeom>
          <a:solidFill>
            <a:srgbClr val="059669">
              <a:alpha val="25000"/>
            </a:srgbClr>
          </a:solidFill>
          <a:ln w="12700">
            <a:solidFill>
              <a:srgbClr val="059669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🔐</a:t>
            </a:r>
            <a:endParaRPr lang="en-US" sz="5200" dirty="0"/>
          </a:p>
        </p:txBody>
      </p:sp>
      <p:sp>
        <p:nvSpPr>
          <p:cNvPr id="43" name="Text 41"/>
          <p:cNvSpPr/>
          <p:nvPr/>
        </p:nvSpPr>
        <p:spPr>
          <a:xfrm>
            <a:off x="365760" y="2560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 FORENSICS INVESTIGATION</a:t>
            </a:r>
            <a:endParaRPr lang="en-US" sz="2600" dirty="0"/>
          </a:p>
        </p:txBody>
      </p:sp>
      <p:sp>
        <p:nvSpPr>
          <p:cNvPr id="44" name="Shape 42"/>
          <p:cNvSpPr/>
          <p:nvPr/>
        </p:nvSpPr>
        <p:spPr>
          <a:xfrm>
            <a:off x="1828800" y="3200400"/>
            <a:ext cx="54864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2918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WhatsApp on Android Devices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914400" y="406908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40690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AES-256-GCM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61488" y="406908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61488" y="40690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Flask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08576" y="406908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08576" y="40690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 Forensics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455664" y="406908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55664" y="40690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 Evidence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46177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Forensics  |  Cryptography  |  Android  |  Evidence Analysis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731520"/>
            <a:ext cx="365760" cy="10973"/>
          </a:xfrm>
          <a:prstGeom prst="rect">
            <a:avLst/>
          </a:prstGeom>
          <a:solidFill>
            <a:srgbClr val="1D4ED8">
              <a:alpha val="8000"/>
            </a:srgbClr>
          </a:solidFill>
          <a:ln w="12700">
            <a:solidFill>
              <a:srgbClr val="1D4ED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49040" y="731520"/>
            <a:ext cx="365760" cy="10973"/>
          </a:xfrm>
          <a:prstGeom prst="rect">
            <a:avLst/>
          </a:prstGeom>
          <a:solidFill>
            <a:srgbClr val="1D4ED8">
              <a:alpha val="8000"/>
            </a:srgbClr>
          </a:solidFill>
          <a:ln w="12700">
            <a:solidFill>
              <a:srgbClr val="1D4ED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731520"/>
            <a:ext cx="365760" cy="10973"/>
          </a:xfrm>
          <a:prstGeom prst="rect">
            <a:avLst/>
          </a:prstGeom>
          <a:solidFill>
            <a:srgbClr val="1D4ED8">
              <a:alpha val="8000"/>
            </a:srgbClr>
          </a:solidFill>
          <a:ln w="12700">
            <a:solidFill>
              <a:srgbClr val="1D4ED8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694944"/>
            <a:ext cx="73152" cy="73152"/>
          </a:xfrm>
          <a:prstGeom prst="ellipse">
            <a:avLst/>
          </a:prstGeom>
          <a:solidFill>
            <a:srgbClr val="1D4ED8">
              <a:alpha val="13000"/>
            </a:srgbClr>
          </a:solidFill>
          <a:ln w="12700">
            <a:solidFill>
              <a:srgbClr val="1D4ED8">
                <a:alpha val="1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07024" y="694944"/>
            <a:ext cx="73152" cy="73152"/>
          </a:xfrm>
          <a:prstGeom prst="ellipse">
            <a:avLst/>
          </a:prstGeom>
          <a:solidFill>
            <a:srgbClr val="1D4ED8">
              <a:alpha val="13000"/>
            </a:srgbClr>
          </a:solidFill>
          <a:ln w="12700">
            <a:solidFill>
              <a:srgbClr val="1D4ED8">
                <a:alpha val="13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463040"/>
            <a:ext cx="731520" cy="10973"/>
          </a:xfrm>
          <a:prstGeom prst="rect">
            <a:avLst/>
          </a:prstGeom>
          <a:solidFill>
            <a:srgbClr val="059669">
              <a:alpha val="8000"/>
            </a:srgbClr>
          </a:solidFill>
          <a:ln w="12700">
            <a:solidFill>
              <a:srgbClr val="059669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1463040"/>
            <a:ext cx="731520" cy="10973"/>
          </a:xfrm>
          <a:prstGeom prst="rect">
            <a:avLst/>
          </a:prstGeom>
          <a:solidFill>
            <a:srgbClr val="059669">
              <a:alpha val="8000"/>
            </a:srgbClr>
          </a:solidFill>
          <a:ln w="12700">
            <a:solidFill>
              <a:srgbClr val="059669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35424" y="1426464"/>
            <a:ext cx="73152" cy="73152"/>
          </a:xfrm>
          <a:prstGeom prst="ellipse">
            <a:avLst/>
          </a:prstGeom>
          <a:solidFill>
            <a:srgbClr val="059669">
              <a:alpha val="13000"/>
            </a:srgbClr>
          </a:solidFill>
          <a:ln w="12700">
            <a:solidFill>
              <a:srgbClr val="059669">
                <a:alpha val="13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286000"/>
            <a:ext cx="548640" cy="10973"/>
          </a:xfrm>
          <a:prstGeom prst="rect">
            <a:avLst/>
          </a:prstGeom>
          <a:solidFill>
            <a:srgbClr val="EA580C">
              <a:alpha val="8000"/>
            </a:srgbClr>
          </a:solidFill>
          <a:ln w="12700">
            <a:solidFill>
              <a:srgbClr val="EA580C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2286000"/>
            <a:ext cx="548640" cy="10973"/>
          </a:xfrm>
          <a:prstGeom prst="rect">
            <a:avLst/>
          </a:prstGeom>
          <a:solidFill>
            <a:srgbClr val="EA580C">
              <a:alpha val="8000"/>
            </a:srgbClr>
          </a:solidFill>
          <a:ln w="12700">
            <a:solidFill>
              <a:srgbClr val="EA580C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2286000"/>
            <a:ext cx="548640" cy="10973"/>
          </a:xfrm>
          <a:prstGeom prst="rect">
            <a:avLst/>
          </a:prstGeom>
          <a:solidFill>
            <a:srgbClr val="EA580C">
              <a:alpha val="8000"/>
            </a:srgbClr>
          </a:solidFill>
          <a:ln w="12700">
            <a:solidFill>
              <a:srgbClr val="EA580C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63824" y="2249424"/>
            <a:ext cx="73152" cy="73152"/>
          </a:xfrm>
          <a:prstGeom prst="ellipse">
            <a:avLst/>
          </a:prstGeom>
          <a:solidFill>
            <a:srgbClr val="EA580C">
              <a:alpha val="13000"/>
            </a:srgbClr>
          </a:solidFill>
          <a:ln w="12700">
            <a:solidFill>
              <a:srgbClr val="EA580C">
                <a:alpha val="13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3108960"/>
            <a:ext cx="365760" cy="10973"/>
          </a:xfrm>
          <a:prstGeom prst="rect">
            <a:avLst/>
          </a:prstGeom>
          <a:solidFill>
            <a:srgbClr val="1D4ED8">
              <a:alpha val="8000"/>
            </a:srgbClr>
          </a:solidFill>
          <a:ln w="12700">
            <a:solidFill>
              <a:srgbClr val="1D4ED8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3108960"/>
            <a:ext cx="365760" cy="10973"/>
          </a:xfrm>
          <a:prstGeom prst="rect">
            <a:avLst/>
          </a:prstGeom>
          <a:solidFill>
            <a:srgbClr val="1D4ED8">
              <a:alpha val="8000"/>
            </a:srgbClr>
          </a:solidFill>
          <a:ln w="12700">
            <a:solidFill>
              <a:srgbClr val="1D4ED8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3108960"/>
            <a:ext cx="365760" cy="10973"/>
          </a:xfrm>
          <a:prstGeom prst="rect">
            <a:avLst/>
          </a:prstGeom>
          <a:solidFill>
            <a:srgbClr val="1D4ED8">
              <a:alpha val="8000"/>
            </a:srgbClr>
          </a:solidFill>
          <a:ln w="12700">
            <a:solidFill>
              <a:srgbClr val="1D4ED8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00784" y="3072384"/>
            <a:ext cx="73152" cy="73152"/>
          </a:xfrm>
          <a:prstGeom prst="ellipse">
            <a:avLst/>
          </a:prstGeom>
          <a:solidFill>
            <a:srgbClr val="1D4ED8">
              <a:alpha val="13000"/>
            </a:srgbClr>
          </a:solidFill>
          <a:ln w="12700">
            <a:solidFill>
              <a:srgbClr val="1D4ED8">
                <a:alpha val="13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61504" y="3072384"/>
            <a:ext cx="73152" cy="73152"/>
          </a:xfrm>
          <a:prstGeom prst="ellipse">
            <a:avLst/>
          </a:prstGeom>
          <a:solidFill>
            <a:srgbClr val="1D4ED8">
              <a:alpha val="13000"/>
            </a:srgbClr>
          </a:solidFill>
          <a:ln w="12700">
            <a:solidFill>
              <a:srgbClr val="1D4ED8">
                <a:alpha val="13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3840480"/>
            <a:ext cx="731520" cy="10973"/>
          </a:xfrm>
          <a:prstGeom prst="rect">
            <a:avLst/>
          </a:prstGeom>
          <a:solidFill>
            <a:srgbClr val="059669">
              <a:alpha val="8000"/>
            </a:srgbClr>
          </a:solidFill>
          <a:ln w="12700">
            <a:solidFill>
              <a:srgbClr val="059669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3840480"/>
            <a:ext cx="731520" cy="10973"/>
          </a:xfrm>
          <a:prstGeom prst="rect">
            <a:avLst/>
          </a:prstGeom>
          <a:solidFill>
            <a:srgbClr val="059669">
              <a:alpha val="8000"/>
            </a:srgbClr>
          </a:solidFill>
          <a:ln w="12700">
            <a:solidFill>
              <a:srgbClr val="059669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" y="3803904"/>
            <a:ext cx="73152" cy="73152"/>
          </a:xfrm>
          <a:prstGeom prst="ellipse">
            <a:avLst/>
          </a:prstGeom>
          <a:solidFill>
            <a:srgbClr val="059669">
              <a:alpha val="13000"/>
            </a:srgbClr>
          </a:solidFill>
          <a:ln w="12700">
            <a:solidFill>
              <a:srgbClr val="059669">
                <a:alpha val="13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07024" y="3803904"/>
            <a:ext cx="73152" cy="73152"/>
          </a:xfrm>
          <a:prstGeom prst="ellipse">
            <a:avLst/>
          </a:prstGeom>
          <a:solidFill>
            <a:srgbClr val="059669">
              <a:alpha val="13000"/>
            </a:srgbClr>
          </a:solidFill>
          <a:ln w="12700">
            <a:solidFill>
              <a:srgbClr val="059669">
                <a:alpha val="13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4572000"/>
            <a:ext cx="548640" cy="10973"/>
          </a:xfrm>
          <a:prstGeom prst="rect">
            <a:avLst/>
          </a:prstGeom>
          <a:solidFill>
            <a:srgbClr val="EA580C">
              <a:alpha val="8000"/>
            </a:srgbClr>
          </a:solidFill>
          <a:ln w="12700">
            <a:solidFill>
              <a:srgbClr val="EA580C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4572000"/>
            <a:ext cx="548640" cy="10973"/>
          </a:xfrm>
          <a:prstGeom prst="rect">
            <a:avLst/>
          </a:prstGeom>
          <a:solidFill>
            <a:srgbClr val="EA580C">
              <a:alpha val="8000"/>
            </a:srgbClr>
          </a:solidFill>
          <a:ln w="12700">
            <a:solidFill>
              <a:srgbClr val="EA580C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4572000"/>
            <a:ext cx="548640" cy="10973"/>
          </a:xfrm>
          <a:prstGeom prst="rect">
            <a:avLst/>
          </a:prstGeom>
          <a:solidFill>
            <a:srgbClr val="EA580C">
              <a:alpha val="8000"/>
            </a:srgbClr>
          </a:solidFill>
          <a:ln w="12700">
            <a:solidFill>
              <a:srgbClr val="EA580C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35424" y="4535424"/>
            <a:ext cx="73152" cy="73152"/>
          </a:xfrm>
          <a:prstGeom prst="ellipse">
            <a:avLst/>
          </a:prstGeom>
          <a:solidFill>
            <a:srgbClr val="EA580C">
              <a:alpha val="13000"/>
            </a:srgbClr>
          </a:solidFill>
          <a:ln w="12700">
            <a:solidFill>
              <a:srgbClr val="EA580C">
                <a:alpha val="13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37360" y="731520"/>
            <a:ext cx="10973" cy="731520"/>
          </a:xfrm>
          <a:prstGeom prst="rect">
            <a:avLst/>
          </a:prstGeom>
          <a:solidFill>
            <a:srgbClr val="1D4ED8">
              <a:alpha val="8000"/>
            </a:srgbClr>
          </a:solidFill>
          <a:ln w="12700">
            <a:solidFill>
              <a:srgbClr val="1D4ED8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2286000"/>
            <a:ext cx="10973" cy="822960"/>
          </a:xfrm>
          <a:prstGeom prst="rect">
            <a:avLst/>
          </a:prstGeom>
          <a:solidFill>
            <a:srgbClr val="059669">
              <a:alpha val="8000"/>
            </a:srgbClr>
          </a:solidFill>
          <a:ln w="12700">
            <a:solidFill>
              <a:srgbClr val="059669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3840480"/>
            <a:ext cx="10973" cy="731520"/>
          </a:xfrm>
          <a:prstGeom prst="rect">
            <a:avLst/>
          </a:prstGeom>
          <a:solidFill>
            <a:srgbClr val="EA580C">
              <a:alpha val="8000"/>
            </a:srgbClr>
          </a:solidFill>
          <a:ln w="12700">
            <a:solidFill>
              <a:srgbClr val="EA580C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1463040"/>
            <a:ext cx="10973" cy="822960"/>
          </a:xfrm>
          <a:prstGeom prst="rect">
            <a:avLst/>
          </a:prstGeom>
          <a:solidFill>
            <a:srgbClr val="1D4ED8">
              <a:alpha val="8000"/>
            </a:srgbClr>
          </a:solidFill>
          <a:ln w="12700">
            <a:solidFill>
              <a:srgbClr val="1D4ED8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274320"/>
            <a:ext cx="164592" cy="164592"/>
          </a:xfrm>
          <a:prstGeom prst="rect">
            <a:avLst/>
          </a:prstGeom>
          <a:solidFill>
            <a:srgbClr val="1D4ED8">
              <a:alpha val="3000"/>
            </a:srgbClr>
          </a:solidFill>
          <a:ln w="12700">
            <a:solidFill>
              <a:srgbClr val="059669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365760"/>
            <a:ext cx="164592" cy="164592"/>
          </a:xfrm>
          <a:prstGeom prst="rect">
            <a:avLst/>
          </a:prstGeom>
          <a:solidFill>
            <a:srgbClr val="1D4ED8">
              <a:alpha val="3000"/>
            </a:srgbClr>
          </a:solidFill>
          <a:ln w="12700">
            <a:solidFill>
              <a:srgbClr val="059669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389120"/>
            <a:ext cx="164592" cy="164592"/>
          </a:xfrm>
          <a:prstGeom prst="rect">
            <a:avLst/>
          </a:prstGeom>
          <a:solidFill>
            <a:srgbClr val="1D4ED8">
              <a:alpha val="3000"/>
            </a:srgbClr>
          </a:solidFill>
          <a:ln w="12700">
            <a:solidFill>
              <a:srgbClr val="059669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4572000"/>
            <a:ext cx="164592" cy="164592"/>
          </a:xfrm>
          <a:prstGeom prst="rect">
            <a:avLst/>
          </a:prstGeom>
          <a:solidFill>
            <a:srgbClr val="1D4ED8">
              <a:alpha val="3000"/>
            </a:srgbClr>
          </a:solidFill>
          <a:ln w="12700">
            <a:solidFill>
              <a:srgbClr val="059669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89120" y="182880"/>
            <a:ext cx="164592" cy="164592"/>
          </a:xfrm>
          <a:prstGeom prst="rect">
            <a:avLst/>
          </a:prstGeom>
          <a:solidFill>
            <a:srgbClr val="1D4ED8">
              <a:alpha val="3000"/>
            </a:srgbClr>
          </a:solidFill>
          <a:ln w="12700">
            <a:solidFill>
              <a:srgbClr val="059669">
                <a:alpha val="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0560" y="4663440"/>
            <a:ext cx="164592" cy="164592"/>
          </a:xfrm>
          <a:prstGeom prst="rect">
            <a:avLst/>
          </a:prstGeom>
          <a:solidFill>
            <a:srgbClr val="1D4ED8">
              <a:alpha val="3000"/>
            </a:srgbClr>
          </a:solidFill>
          <a:ln w="12700">
            <a:solidFill>
              <a:srgbClr val="059669">
                <a:alpha val="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71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28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29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43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00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15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72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29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86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91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OF CONTENTS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Cover Today</a:t>
            </a:r>
            <a:endParaRPr lang="en-US" sz="2600" dirty="0"/>
          </a:p>
        </p:txBody>
      </p:sp>
      <p:sp>
        <p:nvSpPr>
          <p:cNvPr id="60" name="Shape 58"/>
          <p:cNvSpPr/>
          <p:nvPr/>
        </p:nvSpPr>
        <p:spPr>
          <a:xfrm>
            <a:off x="365760" y="1170432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65760" y="1170432"/>
            <a:ext cx="566928" cy="62179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" y="1170432"/>
            <a:ext cx="566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024128" y="1170432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365760" y="1929384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365760" y="1929384"/>
            <a:ext cx="566928" cy="621792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5760" y="1929384"/>
            <a:ext cx="566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024128" y="192938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365760" y="2688336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365760" y="2688336"/>
            <a:ext cx="566928" cy="621792"/>
          </a:xfrm>
          <a:prstGeom prst="rect">
            <a:avLst/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" y="2688336"/>
            <a:ext cx="566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024128" y="2688336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365760" y="3447288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365760" y="3447288"/>
            <a:ext cx="566928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65760" y="3447288"/>
            <a:ext cx="566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024128" y="344728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365760" y="4206240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365760" y="4206240"/>
            <a:ext cx="566928" cy="62179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65760" y="4206240"/>
            <a:ext cx="566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024128" y="420624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— AES-256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4846320" y="1170432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4846320" y="1170432"/>
            <a:ext cx="566928" cy="621792"/>
          </a:xfrm>
          <a:prstGeom prst="rect">
            <a:avLst/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46320" y="1170432"/>
            <a:ext cx="566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5504688" y="1170432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5 Phases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4846320" y="1929384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4846320" y="1929384"/>
            <a:ext cx="566928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846320" y="1929384"/>
            <a:ext cx="566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5504688" y="192938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Chart Diagram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4846320" y="2688336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4846320" y="2688336"/>
            <a:ext cx="566928" cy="62179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846320" y="2688336"/>
            <a:ext cx="566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5504688" y="2688336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Output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4846320" y="3447288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4846320" y="3447288"/>
            <a:ext cx="566928" cy="621792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846320" y="3447288"/>
            <a:ext cx="5669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600" dirty="0"/>
          </a:p>
        </p:txBody>
      </p:sp>
      <p:sp>
        <p:nvSpPr>
          <p:cNvPr id="95" name="Text 93"/>
          <p:cNvSpPr/>
          <p:nvPr/>
        </p:nvSpPr>
        <p:spPr>
          <a:xfrm>
            <a:off x="5504688" y="344728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73152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49040" y="73152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73152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694944"/>
            <a:ext cx="73152" cy="73152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07024" y="694944"/>
            <a:ext cx="73152" cy="73152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463040"/>
            <a:ext cx="731520" cy="10973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1463040"/>
            <a:ext cx="731520" cy="10973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35424" y="1426464"/>
            <a:ext cx="73152" cy="73152"/>
          </a:xfrm>
          <a:prstGeom prst="ellipse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286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2286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2286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63824" y="2249424"/>
            <a:ext cx="73152" cy="73152"/>
          </a:xfrm>
          <a:prstGeom prst="ellipse">
            <a:avLst/>
          </a:prstGeom>
          <a:solidFill>
            <a:srgbClr val="EA580C">
              <a:alpha val="12000"/>
            </a:srgbClr>
          </a:solidFill>
          <a:ln w="12700">
            <a:solidFill>
              <a:srgbClr val="EA580C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310896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310896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310896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00784" y="3072384"/>
            <a:ext cx="73152" cy="73152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61504" y="3072384"/>
            <a:ext cx="73152" cy="73152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3840480"/>
            <a:ext cx="731520" cy="10973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3840480"/>
            <a:ext cx="731520" cy="10973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" y="3803904"/>
            <a:ext cx="73152" cy="73152"/>
          </a:xfrm>
          <a:prstGeom prst="ellipse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07024" y="3803904"/>
            <a:ext cx="73152" cy="73152"/>
          </a:xfrm>
          <a:prstGeom prst="ellipse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4572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4572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4572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35424" y="4535424"/>
            <a:ext cx="73152" cy="73152"/>
          </a:xfrm>
          <a:prstGeom prst="ellipse">
            <a:avLst/>
          </a:prstGeom>
          <a:solidFill>
            <a:srgbClr val="EA580C">
              <a:alpha val="12000"/>
            </a:srgbClr>
          </a:solidFill>
          <a:ln w="12700">
            <a:solidFill>
              <a:srgbClr val="EA580C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37360" y="731520"/>
            <a:ext cx="10973" cy="731520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2286000"/>
            <a:ext cx="10973" cy="822960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3840480"/>
            <a:ext cx="10973" cy="731520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1463040"/>
            <a:ext cx="10973" cy="822960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27432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36576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38912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457200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89120" y="18288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0560" y="466344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71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28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29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43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00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15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72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29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86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91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/  PROJECT OVERVIEW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57200" y="402336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This Project?</a:t>
            </a:r>
            <a:endParaRPr lang="en-US" sz="2600" dirty="0"/>
          </a:p>
        </p:txBody>
      </p:sp>
      <p:sp>
        <p:nvSpPr>
          <p:cNvPr id="60" name="Shape 58"/>
          <p:cNvSpPr/>
          <p:nvPr/>
        </p:nvSpPr>
        <p:spPr>
          <a:xfrm>
            <a:off x="457200" y="123444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57200" y="1234440"/>
            <a:ext cx="269748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57200" y="1289304"/>
            <a:ext cx="2697480" cy="80467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1307592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64" name="Text 62"/>
          <p:cNvSpPr/>
          <p:nvPr/>
        </p:nvSpPr>
        <p:spPr>
          <a:xfrm>
            <a:off x="594360" y="215798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 Forensics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005840" y="2670048"/>
            <a:ext cx="16002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4360" y="2761488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process of finding, preserving, and analyzing digital evidence from electronic devices — treating a phone like a crime scene.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3355848" y="123444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3355848" y="1234440"/>
            <a:ext cx="269748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355848" y="1289304"/>
            <a:ext cx="2697480" cy="804672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355848" y="1307592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71" name="Text 69"/>
          <p:cNvSpPr/>
          <p:nvPr/>
        </p:nvSpPr>
        <p:spPr>
          <a:xfrm>
            <a:off x="3493008" y="215798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WhatsApp Android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3904488" y="2670048"/>
            <a:ext cx="16002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493008" y="2761488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stores all messages in msgstore.db.crypt14 — an AES-256 encrypted SQLite database on Android internal storage.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6254496" y="123444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6254496" y="1234440"/>
            <a:ext cx="269748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254496" y="1289304"/>
            <a:ext cx="2697480" cy="804672"/>
          </a:xfrm>
          <a:prstGeom prst="rect">
            <a:avLst/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254496" y="1307592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🔐</a:t>
            </a:r>
            <a:endParaRPr lang="en-US" sz="3000" dirty="0"/>
          </a:p>
        </p:txBody>
      </p:sp>
      <p:sp>
        <p:nvSpPr>
          <p:cNvPr id="78" name="Text 76"/>
          <p:cNvSpPr/>
          <p:nvPr/>
        </p:nvSpPr>
        <p:spPr>
          <a:xfrm>
            <a:off x="6391656" y="215798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Cryptography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803136" y="2670048"/>
            <a:ext cx="16002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391656" y="2761488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study AES-256-GCM encryption — how WhatsApp locks the database, what keys and IVs are used, and how forensic decryption works.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73152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49040" y="73152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73152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694944"/>
            <a:ext cx="73152" cy="73152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07024" y="694944"/>
            <a:ext cx="73152" cy="73152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463040"/>
            <a:ext cx="731520" cy="10973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1463040"/>
            <a:ext cx="731520" cy="10973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35424" y="1426464"/>
            <a:ext cx="73152" cy="73152"/>
          </a:xfrm>
          <a:prstGeom prst="ellipse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286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2286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2286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63824" y="2249424"/>
            <a:ext cx="73152" cy="73152"/>
          </a:xfrm>
          <a:prstGeom prst="ellipse">
            <a:avLst/>
          </a:prstGeom>
          <a:solidFill>
            <a:srgbClr val="EA580C">
              <a:alpha val="12000"/>
            </a:srgbClr>
          </a:solidFill>
          <a:ln w="12700">
            <a:solidFill>
              <a:srgbClr val="EA580C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310896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310896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310896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00784" y="3072384"/>
            <a:ext cx="73152" cy="73152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61504" y="3072384"/>
            <a:ext cx="73152" cy="73152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3840480"/>
            <a:ext cx="731520" cy="10973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3840480"/>
            <a:ext cx="731520" cy="10973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" y="3803904"/>
            <a:ext cx="73152" cy="73152"/>
          </a:xfrm>
          <a:prstGeom prst="ellipse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07024" y="3803904"/>
            <a:ext cx="73152" cy="73152"/>
          </a:xfrm>
          <a:prstGeom prst="ellipse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4572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4572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4572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35424" y="4535424"/>
            <a:ext cx="73152" cy="73152"/>
          </a:xfrm>
          <a:prstGeom prst="ellipse">
            <a:avLst/>
          </a:prstGeom>
          <a:solidFill>
            <a:srgbClr val="EA580C">
              <a:alpha val="12000"/>
            </a:srgbClr>
          </a:solidFill>
          <a:ln w="12700">
            <a:solidFill>
              <a:srgbClr val="EA580C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37360" y="731520"/>
            <a:ext cx="10973" cy="731520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2286000"/>
            <a:ext cx="10973" cy="822960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3840480"/>
            <a:ext cx="10973" cy="731520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1463040"/>
            <a:ext cx="10973" cy="822960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27432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36576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38912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457200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89120" y="18288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0560" y="466344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71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28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29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43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00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15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72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29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86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91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/  PROBLEM STATEMENT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57200" y="402336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 We Solved</a:t>
            </a:r>
            <a:endParaRPr lang="en-US" sz="2600" dirty="0"/>
          </a:p>
        </p:txBody>
      </p:sp>
      <p:sp>
        <p:nvSpPr>
          <p:cNvPr id="60" name="Shape 58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640080" y="1280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❓ Core Problem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40080" y="160934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encrypts all backup databases using AES-256-GCM. Without the correct key file, the .crypt14 database is completely unreadable — making forensic investigation very challenging.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457200" y="233172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57200" y="2331720"/>
            <a:ext cx="2011680" cy="685800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235000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66" name="Text 64"/>
          <p:cNvSpPr/>
          <p:nvPr/>
        </p:nvSpPr>
        <p:spPr>
          <a:xfrm>
            <a:off x="548640" y="3063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Strong Encryption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914400" y="3502152"/>
            <a:ext cx="10972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8640" y="3593592"/>
            <a:ext cx="18288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with 2²⁵⁶ possible keys — impossible to brute force without the key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2633472" y="233172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2633472" y="2331720"/>
            <a:ext cx="2011680" cy="685800"/>
          </a:xfrm>
          <a:prstGeom prst="rect">
            <a:avLst/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633472" y="235000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📂</a:t>
            </a:r>
            <a:endParaRPr lang="en-US" sz="2400" dirty="0"/>
          </a:p>
        </p:txBody>
      </p:sp>
      <p:sp>
        <p:nvSpPr>
          <p:cNvPr id="72" name="Text 70"/>
          <p:cNvSpPr/>
          <p:nvPr/>
        </p:nvSpPr>
        <p:spPr>
          <a:xfrm>
            <a:off x="2724912" y="3063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Hidden Key Location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3090672" y="3502152"/>
            <a:ext cx="10972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724912" y="3593592"/>
            <a:ext cx="18288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stored at a protected system path — requires forensic or root access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809744" y="233172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4809744" y="2331720"/>
            <a:ext cx="201168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09744" y="235000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78" name="Text 76"/>
          <p:cNvSpPr/>
          <p:nvPr/>
        </p:nvSpPr>
        <p:spPr>
          <a:xfrm>
            <a:off x="4901184" y="3063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Proprietary Format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5266944" y="3502152"/>
            <a:ext cx="10972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901184" y="3593592"/>
            <a:ext cx="18288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.crypt14 is WhatsApp's own format with a protobuf header — not standard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986016" y="233172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986016" y="2331720"/>
            <a:ext cx="2011680" cy="685800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986016" y="235000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84" name="Text 82"/>
          <p:cNvSpPr/>
          <p:nvPr/>
        </p:nvSpPr>
        <p:spPr>
          <a:xfrm>
            <a:off x="7077456" y="3063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Chain of Custody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7443216" y="3502152"/>
            <a:ext cx="109728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077456" y="3593592"/>
            <a:ext cx="18288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Decrypted evidence must be hashed and documented to be legally admissible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73152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49040" y="73152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73152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694944"/>
            <a:ext cx="73152" cy="73152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07024" y="694944"/>
            <a:ext cx="73152" cy="73152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463040"/>
            <a:ext cx="731520" cy="10973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1463040"/>
            <a:ext cx="731520" cy="10973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35424" y="1426464"/>
            <a:ext cx="73152" cy="73152"/>
          </a:xfrm>
          <a:prstGeom prst="ellipse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286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2286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2286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63824" y="2249424"/>
            <a:ext cx="73152" cy="73152"/>
          </a:xfrm>
          <a:prstGeom prst="ellipse">
            <a:avLst/>
          </a:prstGeom>
          <a:solidFill>
            <a:srgbClr val="EA580C">
              <a:alpha val="12000"/>
            </a:srgbClr>
          </a:solidFill>
          <a:ln w="12700">
            <a:solidFill>
              <a:srgbClr val="EA580C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310896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310896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310896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00784" y="3072384"/>
            <a:ext cx="73152" cy="73152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61504" y="3072384"/>
            <a:ext cx="73152" cy="73152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3840480"/>
            <a:ext cx="731520" cy="10973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3840480"/>
            <a:ext cx="731520" cy="10973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" y="3803904"/>
            <a:ext cx="73152" cy="73152"/>
          </a:xfrm>
          <a:prstGeom prst="ellipse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07024" y="3803904"/>
            <a:ext cx="73152" cy="73152"/>
          </a:xfrm>
          <a:prstGeom prst="ellipse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4572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4572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4572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35424" y="4535424"/>
            <a:ext cx="73152" cy="73152"/>
          </a:xfrm>
          <a:prstGeom prst="ellipse">
            <a:avLst/>
          </a:prstGeom>
          <a:solidFill>
            <a:srgbClr val="EA580C">
              <a:alpha val="12000"/>
            </a:srgbClr>
          </a:solidFill>
          <a:ln w="12700">
            <a:solidFill>
              <a:srgbClr val="EA580C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37360" y="731520"/>
            <a:ext cx="10973" cy="731520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2286000"/>
            <a:ext cx="10973" cy="822960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3840480"/>
            <a:ext cx="10973" cy="731520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1463040"/>
            <a:ext cx="10973" cy="822960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27432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36576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38912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457200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89120" y="18288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0560" y="466344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71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28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29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43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00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15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72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29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86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91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/  TECHNOLOGIES USED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57200" y="402336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Tech Stack</a:t>
            </a:r>
            <a:endParaRPr lang="en-US" sz="2600" dirty="0"/>
          </a:p>
        </p:txBody>
      </p:sp>
      <p:sp>
        <p:nvSpPr>
          <p:cNvPr id="60" name="Shape 58"/>
          <p:cNvSpPr/>
          <p:nvPr/>
        </p:nvSpPr>
        <p:spPr>
          <a:xfrm>
            <a:off x="457200" y="12344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57200" y="1234440"/>
            <a:ext cx="2697480" cy="594360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" y="12801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🐍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1115568" y="12893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 3.10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1115568" y="15819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Language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94360" y="1856232"/>
            <a:ext cx="242316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4360" y="1929384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programming language for backend logic, decryption scripts, and database reading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3355848" y="12344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3355848" y="1234440"/>
            <a:ext cx="269748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47288" y="12801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70" name="Text 68"/>
          <p:cNvSpPr/>
          <p:nvPr/>
        </p:nvSpPr>
        <p:spPr>
          <a:xfrm>
            <a:off x="4014216" y="12893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Flask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4014216" y="15819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API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3493008" y="1856232"/>
            <a:ext cx="242316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493008" y="1929384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Python web framework serving REST API endpoints to the HTML frontend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6254496" y="123444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6254496" y="1234440"/>
            <a:ext cx="2697480" cy="594360"/>
          </a:xfrm>
          <a:prstGeom prst="rect">
            <a:avLst/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345936" y="12801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77" name="Text 75"/>
          <p:cNvSpPr/>
          <p:nvPr/>
        </p:nvSpPr>
        <p:spPr>
          <a:xfrm>
            <a:off x="6912864" y="12893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pycryptodome</a:t>
            </a:r>
            <a:endParaRPr lang="en-US" sz="1400" dirty="0"/>
          </a:p>
        </p:txBody>
      </p:sp>
      <p:sp>
        <p:nvSpPr>
          <p:cNvPr id="78" name="Text 76"/>
          <p:cNvSpPr/>
          <p:nvPr/>
        </p:nvSpPr>
        <p:spPr>
          <a:xfrm>
            <a:off x="6912864" y="15819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 Decryption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391656" y="1856232"/>
            <a:ext cx="242316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391656" y="1929384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library implementing AES-256-GCM cryptographic decryption operations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457200" y="30175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457200" y="3017520"/>
            <a:ext cx="2697480" cy="594360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48640" y="3063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84" name="Text 82"/>
          <p:cNvSpPr/>
          <p:nvPr/>
        </p:nvSpPr>
        <p:spPr>
          <a:xfrm>
            <a:off x="1115568" y="30723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SQLite3</a:t>
            </a:r>
            <a:endParaRPr lang="en-US" sz="1400" dirty="0"/>
          </a:p>
        </p:txBody>
      </p:sp>
      <p:sp>
        <p:nvSpPr>
          <p:cNvPr id="85" name="Text 83"/>
          <p:cNvSpPr/>
          <p:nvPr/>
        </p:nvSpPr>
        <p:spPr>
          <a:xfrm>
            <a:off x="1115568" y="33649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Reading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594360" y="3639312"/>
            <a:ext cx="242316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4360" y="3712464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built-in module to read the decrypted WhatsApp SQLite message database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3355848" y="30175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3355848" y="3017520"/>
            <a:ext cx="269748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447288" y="3063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91" name="Text 89"/>
          <p:cNvSpPr/>
          <p:nvPr/>
        </p:nvSpPr>
        <p:spPr>
          <a:xfrm>
            <a:off x="4014216" y="30723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HTML/CSS/JS</a:t>
            </a:r>
            <a:endParaRPr lang="en-US" sz="1400" dirty="0"/>
          </a:p>
        </p:txBody>
      </p:sp>
      <p:sp>
        <p:nvSpPr>
          <p:cNvPr id="92" name="Text 90"/>
          <p:cNvSpPr/>
          <p:nvPr/>
        </p:nvSpPr>
        <p:spPr>
          <a:xfrm>
            <a:off x="4014216" y="33649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 UI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3493008" y="3639312"/>
            <a:ext cx="242316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493008" y="3712464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interface for upload, dashboard, charts, and evidence reports</a:t>
            </a:r>
            <a:endParaRPr lang="en-US" sz="1050" dirty="0"/>
          </a:p>
        </p:txBody>
      </p:sp>
      <p:sp>
        <p:nvSpPr>
          <p:cNvPr id="95" name="Shape 93"/>
          <p:cNvSpPr/>
          <p:nvPr/>
        </p:nvSpPr>
        <p:spPr>
          <a:xfrm>
            <a:off x="6254496" y="30175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6254496" y="3017520"/>
            <a:ext cx="2697480" cy="594360"/>
          </a:xfrm>
          <a:prstGeom prst="rect">
            <a:avLst/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345936" y="3063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98" name="Text 96"/>
          <p:cNvSpPr/>
          <p:nvPr/>
        </p:nvSpPr>
        <p:spPr>
          <a:xfrm>
            <a:off x="6912864" y="30723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Chart.js</a:t>
            </a:r>
            <a:endParaRPr lang="en-US" sz="1400" dirty="0"/>
          </a:p>
        </p:txBody>
      </p:sp>
      <p:sp>
        <p:nvSpPr>
          <p:cNvPr id="99" name="Text 97"/>
          <p:cNvSpPr/>
          <p:nvPr/>
        </p:nvSpPr>
        <p:spPr>
          <a:xfrm>
            <a:off x="6912864" y="33649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Visualizations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6391656" y="3639312"/>
            <a:ext cx="242316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391656" y="3712464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charting library for bar, doughnut, and daily timeline graphs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73152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49040" y="73152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73152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694944"/>
            <a:ext cx="73152" cy="73152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07024" y="694944"/>
            <a:ext cx="73152" cy="73152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463040"/>
            <a:ext cx="731520" cy="10973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1463040"/>
            <a:ext cx="731520" cy="10973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35424" y="1426464"/>
            <a:ext cx="73152" cy="73152"/>
          </a:xfrm>
          <a:prstGeom prst="ellipse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286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2286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2286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63824" y="2249424"/>
            <a:ext cx="73152" cy="73152"/>
          </a:xfrm>
          <a:prstGeom prst="ellipse">
            <a:avLst/>
          </a:prstGeom>
          <a:solidFill>
            <a:srgbClr val="EA580C">
              <a:alpha val="12000"/>
            </a:srgbClr>
          </a:solidFill>
          <a:ln w="12700">
            <a:solidFill>
              <a:srgbClr val="EA580C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310896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310896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310896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00784" y="3072384"/>
            <a:ext cx="73152" cy="73152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61504" y="3072384"/>
            <a:ext cx="73152" cy="73152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3840480"/>
            <a:ext cx="731520" cy="10973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3840480"/>
            <a:ext cx="731520" cy="10973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" y="3803904"/>
            <a:ext cx="73152" cy="73152"/>
          </a:xfrm>
          <a:prstGeom prst="ellipse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07024" y="3803904"/>
            <a:ext cx="73152" cy="73152"/>
          </a:xfrm>
          <a:prstGeom prst="ellipse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4572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4572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4572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35424" y="4535424"/>
            <a:ext cx="73152" cy="73152"/>
          </a:xfrm>
          <a:prstGeom prst="ellipse">
            <a:avLst/>
          </a:prstGeom>
          <a:solidFill>
            <a:srgbClr val="EA580C">
              <a:alpha val="12000"/>
            </a:srgbClr>
          </a:solidFill>
          <a:ln w="12700">
            <a:solidFill>
              <a:srgbClr val="EA580C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37360" y="731520"/>
            <a:ext cx="10973" cy="731520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2286000"/>
            <a:ext cx="10973" cy="822960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3840480"/>
            <a:ext cx="10973" cy="731520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1463040"/>
            <a:ext cx="10973" cy="822960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27432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36576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38912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457200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89120" y="18288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0560" y="466344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71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28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29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43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00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15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72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29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86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91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/  SYSTEM ARCHITECTURE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57200" y="402336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3-Layer System Design</a:t>
            </a:r>
            <a:endParaRPr lang="en-US" sz="2600" dirty="0"/>
          </a:p>
        </p:txBody>
      </p:sp>
      <p:sp>
        <p:nvSpPr>
          <p:cNvPr id="60" name="Shape 58"/>
          <p:cNvSpPr/>
          <p:nvPr/>
        </p:nvSpPr>
        <p:spPr>
          <a:xfrm>
            <a:off x="365760" y="1188720"/>
            <a:ext cx="2697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65760" y="1188720"/>
            <a:ext cx="2697480" cy="749808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121615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457200" y="158191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 / CSS / JS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75488" y="2029968"/>
            <a:ext cx="2478024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66928" y="2148840"/>
            <a:ext cx="128016" cy="12801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8096" y="202996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Page — index.html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75488" y="2496312"/>
            <a:ext cx="2478024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66928" y="2615184"/>
            <a:ext cx="128016" cy="12801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68096" y="249631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dashboard.html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75488" y="2962656"/>
            <a:ext cx="2478024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66928" y="3081528"/>
            <a:ext cx="128016" cy="12801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68096" y="2962656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— crypto.html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475488" y="3429000"/>
            <a:ext cx="2478024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66928" y="3547872"/>
            <a:ext cx="128016" cy="12801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68096" y="34290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via Chart.js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475488" y="3895344"/>
            <a:ext cx="2478024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66928" y="4014216"/>
            <a:ext cx="128016" cy="12801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68096" y="3895344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 Messages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475488" y="4361688"/>
            <a:ext cx="2478024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66928" y="4480560"/>
            <a:ext cx="128016" cy="12801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68096" y="436168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JSON / CSV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3063240" y="265176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BD5E1"/>
                </a:solidFill>
              </a:rPr>
              <a:t>→</a:t>
            </a:r>
            <a:endParaRPr lang="en-US" sz="2200" dirty="0"/>
          </a:p>
        </p:txBody>
      </p:sp>
      <p:sp>
        <p:nvSpPr>
          <p:cNvPr id="83" name="Shape 81"/>
          <p:cNvSpPr/>
          <p:nvPr/>
        </p:nvSpPr>
        <p:spPr>
          <a:xfrm>
            <a:off x="3310128" y="1188720"/>
            <a:ext cx="2697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3310128" y="1188720"/>
            <a:ext cx="2697480" cy="749808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401568" y="121615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500" dirty="0"/>
          </a:p>
        </p:txBody>
      </p:sp>
      <p:sp>
        <p:nvSpPr>
          <p:cNvPr id="86" name="Text 84"/>
          <p:cNvSpPr/>
          <p:nvPr/>
        </p:nvSpPr>
        <p:spPr>
          <a:xfrm>
            <a:off x="3401568" y="158191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Flask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3419856" y="2029968"/>
            <a:ext cx="2478024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511296" y="2148840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712464" y="202996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— Flask Server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3419856" y="2496312"/>
            <a:ext cx="2478024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511296" y="2615184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712464" y="249631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/api/upload endpoint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3419856" y="2962656"/>
            <a:ext cx="2478024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511296" y="3081528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712464" y="2962656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/api/status endpoint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3419856" y="3429000"/>
            <a:ext cx="2478024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511296" y="3547872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712464" y="34290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decrypt.py — AES-256-GCM</a:t>
            </a:r>
            <a:endParaRPr lang="en-US" sz="1050" dirty="0"/>
          </a:p>
        </p:txBody>
      </p:sp>
      <p:sp>
        <p:nvSpPr>
          <p:cNvPr id="99" name="Shape 97"/>
          <p:cNvSpPr/>
          <p:nvPr/>
        </p:nvSpPr>
        <p:spPr>
          <a:xfrm>
            <a:off x="3419856" y="3895344"/>
            <a:ext cx="2478024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511296" y="4014216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712464" y="3895344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analyzer.py — SQLite Read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3419856" y="4361688"/>
            <a:ext cx="2478024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511296" y="4480560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712464" y="436168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Generation</a:t>
            </a:r>
            <a:endParaRPr lang="en-US" sz="1050" dirty="0"/>
          </a:p>
        </p:txBody>
      </p:sp>
      <p:sp>
        <p:nvSpPr>
          <p:cNvPr id="105" name="Text 103"/>
          <p:cNvSpPr/>
          <p:nvPr/>
        </p:nvSpPr>
        <p:spPr>
          <a:xfrm>
            <a:off x="6007608" y="265176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BD5E1"/>
                </a:solidFill>
              </a:rPr>
              <a:t>→</a:t>
            </a:r>
            <a:endParaRPr lang="en-US" sz="2200" dirty="0"/>
          </a:p>
        </p:txBody>
      </p:sp>
      <p:sp>
        <p:nvSpPr>
          <p:cNvPr id="106" name="Shape 104"/>
          <p:cNvSpPr/>
          <p:nvPr/>
        </p:nvSpPr>
        <p:spPr>
          <a:xfrm>
            <a:off x="6254496" y="1188720"/>
            <a:ext cx="2697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107" name="Shape 105"/>
          <p:cNvSpPr/>
          <p:nvPr/>
        </p:nvSpPr>
        <p:spPr>
          <a:xfrm>
            <a:off x="6254496" y="1188720"/>
            <a:ext cx="2697480" cy="749808"/>
          </a:xfrm>
          <a:prstGeom prst="rect">
            <a:avLst/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345936" y="121615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</a:t>
            </a:r>
            <a:endParaRPr lang="en-US" sz="1500" dirty="0"/>
          </a:p>
        </p:txBody>
      </p:sp>
      <p:sp>
        <p:nvSpPr>
          <p:cNvPr id="109" name="Text 107"/>
          <p:cNvSpPr/>
          <p:nvPr/>
        </p:nvSpPr>
        <p:spPr>
          <a:xfrm>
            <a:off x="6345936" y="158191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Libraries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6364224" y="2029968"/>
            <a:ext cx="2478024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455664" y="2148840"/>
            <a:ext cx="128016" cy="12801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656832" y="202996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pycryptodome — Crypto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6364224" y="2496312"/>
            <a:ext cx="2478024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455664" y="2615184"/>
            <a:ext cx="128016" cy="12801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656832" y="2496312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 — Database Read</a:t>
            </a:r>
            <a:endParaRPr lang="en-US" sz="1050" dirty="0"/>
          </a:p>
        </p:txBody>
      </p:sp>
      <p:sp>
        <p:nvSpPr>
          <p:cNvPr id="116" name="Shape 114"/>
          <p:cNvSpPr/>
          <p:nvPr/>
        </p:nvSpPr>
        <p:spPr>
          <a:xfrm>
            <a:off x="6364224" y="2962656"/>
            <a:ext cx="2478024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455664" y="3081528"/>
            <a:ext cx="128016" cy="12801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656832" y="2962656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hashlib — SHA-256 Hash</a:t>
            </a:r>
            <a:endParaRPr lang="en-US" sz="1050" dirty="0"/>
          </a:p>
        </p:txBody>
      </p:sp>
      <p:sp>
        <p:nvSpPr>
          <p:cNvPr id="119" name="Shape 117"/>
          <p:cNvSpPr/>
          <p:nvPr/>
        </p:nvSpPr>
        <p:spPr>
          <a:xfrm>
            <a:off x="6364224" y="3429000"/>
            <a:ext cx="2478024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455664" y="3547872"/>
            <a:ext cx="128016" cy="12801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656832" y="34290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flask-cors — CORS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6364224" y="3895344"/>
            <a:ext cx="2478024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455664" y="4014216"/>
            <a:ext cx="128016" cy="12801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656832" y="3895344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/ pathlib — File IO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6364224" y="4361688"/>
            <a:ext cx="2478024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455664" y="4480560"/>
            <a:ext cx="128016" cy="12801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656832" y="436168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— Data Format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73152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49040" y="73152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73152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694944"/>
            <a:ext cx="73152" cy="73152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07024" y="694944"/>
            <a:ext cx="73152" cy="73152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463040"/>
            <a:ext cx="731520" cy="10973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1463040"/>
            <a:ext cx="731520" cy="10973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35424" y="1426464"/>
            <a:ext cx="73152" cy="73152"/>
          </a:xfrm>
          <a:prstGeom prst="ellipse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286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2286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2286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63824" y="2249424"/>
            <a:ext cx="73152" cy="73152"/>
          </a:xfrm>
          <a:prstGeom prst="ellipse">
            <a:avLst/>
          </a:prstGeom>
          <a:solidFill>
            <a:srgbClr val="EA580C">
              <a:alpha val="12000"/>
            </a:srgbClr>
          </a:solidFill>
          <a:ln w="12700">
            <a:solidFill>
              <a:srgbClr val="EA580C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310896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310896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310896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00784" y="3072384"/>
            <a:ext cx="73152" cy="73152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61504" y="3072384"/>
            <a:ext cx="73152" cy="73152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3840480"/>
            <a:ext cx="731520" cy="10973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3840480"/>
            <a:ext cx="731520" cy="10973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" y="3803904"/>
            <a:ext cx="73152" cy="73152"/>
          </a:xfrm>
          <a:prstGeom prst="ellipse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07024" y="3803904"/>
            <a:ext cx="73152" cy="73152"/>
          </a:xfrm>
          <a:prstGeom prst="ellipse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4572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4572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4572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35424" y="4535424"/>
            <a:ext cx="73152" cy="73152"/>
          </a:xfrm>
          <a:prstGeom prst="ellipse">
            <a:avLst/>
          </a:prstGeom>
          <a:solidFill>
            <a:srgbClr val="EA580C">
              <a:alpha val="12000"/>
            </a:srgbClr>
          </a:solidFill>
          <a:ln w="12700">
            <a:solidFill>
              <a:srgbClr val="EA580C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37360" y="731520"/>
            <a:ext cx="10973" cy="731520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2286000"/>
            <a:ext cx="10973" cy="822960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3840480"/>
            <a:ext cx="10973" cy="731520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1463040"/>
            <a:ext cx="10973" cy="822960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27432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36576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38912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457200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89120" y="18288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0560" y="466344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71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28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29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43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00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15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72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29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86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91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/  CRYPTOGRAPHY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57200" y="402336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AES-256-GCM Explained</a:t>
            </a:r>
            <a:endParaRPr lang="en-US" sz="2600" dirty="0"/>
          </a:p>
        </p:txBody>
      </p:sp>
      <p:sp>
        <p:nvSpPr>
          <p:cNvPr id="60" name="Shape 58"/>
          <p:cNvSpPr/>
          <p:nvPr/>
        </p:nvSpPr>
        <p:spPr>
          <a:xfrm>
            <a:off x="457200" y="1207008"/>
            <a:ext cx="26974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57200" y="1207008"/>
            <a:ext cx="804672" cy="1536192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1207008"/>
            <a:ext cx="80467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4E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AES</a:t>
            </a:r>
            <a:endParaRPr lang="en-US" sz="3000" dirty="0"/>
          </a:p>
        </p:txBody>
      </p:sp>
      <p:sp>
        <p:nvSpPr>
          <p:cNvPr id="63" name="Shape 61"/>
          <p:cNvSpPr/>
          <p:nvPr/>
        </p:nvSpPr>
        <p:spPr>
          <a:xfrm>
            <a:off x="1261872" y="1207008"/>
            <a:ext cx="27432" cy="153619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353312" y="12801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Advanced Encryption Standard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1353312" y="1664208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Government encryption standard since 2001. Used by banks, militaries, and WhatsApp worldwide for data protection.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3355848" y="1207008"/>
            <a:ext cx="26974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355848" y="1207008"/>
            <a:ext cx="804672" cy="153619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55848" y="1207008"/>
            <a:ext cx="80467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256</a:t>
            </a:r>
            <a:endParaRPr lang="en-US" sz="3000" dirty="0"/>
          </a:p>
        </p:txBody>
      </p:sp>
      <p:sp>
        <p:nvSpPr>
          <p:cNvPr id="69" name="Shape 67"/>
          <p:cNvSpPr/>
          <p:nvPr/>
        </p:nvSpPr>
        <p:spPr>
          <a:xfrm>
            <a:off x="4160520" y="1207008"/>
            <a:ext cx="27432" cy="153619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251960" y="12801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size — 256 bits / 32 bytes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4251960" y="1664208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2²⁵⁶ possible keys. A supercomputer would take longer than the age of the universe to crack this key.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6254496" y="1207008"/>
            <a:ext cx="26974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6254496" y="1207008"/>
            <a:ext cx="804672" cy="1536192"/>
          </a:xfrm>
          <a:prstGeom prst="rect">
            <a:avLst/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54496" y="1207008"/>
            <a:ext cx="80467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GCM</a:t>
            </a:r>
            <a:endParaRPr lang="en-US" sz="3000" dirty="0"/>
          </a:p>
        </p:txBody>
      </p:sp>
      <p:sp>
        <p:nvSpPr>
          <p:cNvPr id="75" name="Shape 73"/>
          <p:cNvSpPr/>
          <p:nvPr/>
        </p:nvSpPr>
        <p:spPr>
          <a:xfrm>
            <a:off x="7059168" y="1207008"/>
            <a:ext cx="27432" cy="153619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150608" y="12801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Galois/Counter Mode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7150608" y="1664208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 AND authenticates. Creates a 16-byte tag that proves the data was never modified or tampered with.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457200" y="2880360"/>
            <a:ext cx="822960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57200" y="297180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WhatsApp Encryption Flow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457200" y="3401568"/>
            <a:ext cx="15087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457200" y="3401568"/>
            <a:ext cx="150876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57200" y="3401568"/>
            <a:ext cx="15087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Message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"Hello!"</a:t>
            </a:r>
            <a:endParaRPr lang="en-US" sz="1150" dirty="0"/>
          </a:p>
        </p:txBody>
      </p:sp>
      <p:sp>
        <p:nvSpPr>
          <p:cNvPr id="83" name="Text 81"/>
          <p:cNvSpPr/>
          <p:nvPr/>
        </p:nvSpPr>
        <p:spPr>
          <a:xfrm>
            <a:off x="1965960" y="3840480"/>
            <a:ext cx="21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84" name="Shape 82"/>
          <p:cNvSpPr/>
          <p:nvPr/>
        </p:nvSpPr>
        <p:spPr>
          <a:xfrm>
            <a:off x="2176272" y="3401568"/>
            <a:ext cx="15087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2176272" y="3401568"/>
            <a:ext cx="1508760" cy="457200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176272" y="3401568"/>
            <a:ext cx="15087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AES Key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 bytes</a:t>
            </a:r>
            <a:endParaRPr lang="en-US" sz="1150" dirty="0"/>
          </a:p>
        </p:txBody>
      </p:sp>
      <p:sp>
        <p:nvSpPr>
          <p:cNvPr id="87" name="Text 85"/>
          <p:cNvSpPr/>
          <p:nvPr/>
        </p:nvSpPr>
        <p:spPr>
          <a:xfrm>
            <a:off x="3685032" y="3840480"/>
            <a:ext cx="21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88" name="Shape 86"/>
          <p:cNvSpPr/>
          <p:nvPr/>
        </p:nvSpPr>
        <p:spPr>
          <a:xfrm>
            <a:off x="3895344" y="3401568"/>
            <a:ext cx="15087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3895344" y="3401568"/>
            <a:ext cx="1508760" cy="457200"/>
          </a:xfrm>
          <a:prstGeom prst="rect">
            <a:avLst/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895344" y="3401568"/>
            <a:ext cx="15087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IV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 bytes</a:t>
            </a:r>
            <a:endParaRPr lang="en-US" sz="1150" dirty="0"/>
          </a:p>
        </p:txBody>
      </p:sp>
      <p:sp>
        <p:nvSpPr>
          <p:cNvPr id="91" name="Text 89"/>
          <p:cNvSpPr/>
          <p:nvPr/>
        </p:nvSpPr>
        <p:spPr>
          <a:xfrm>
            <a:off x="5404104" y="3840480"/>
            <a:ext cx="21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92" name="Shape 90"/>
          <p:cNvSpPr/>
          <p:nvPr/>
        </p:nvSpPr>
        <p:spPr>
          <a:xfrm>
            <a:off x="5614416" y="3401568"/>
            <a:ext cx="15087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5614416" y="3401568"/>
            <a:ext cx="150876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614416" y="3401568"/>
            <a:ext cx="15087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AES-256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Encrypt</a:t>
            </a:r>
            <a:endParaRPr lang="en-US" sz="1150" dirty="0"/>
          </a:p>
        </p:txBody>
      </p:sp>
      <p:sp>
        <p:nvSpPr>
          <p:cNvPr id="95" name="Text 93"/>
          <p:cNvSpPr/>
          <p:nvPr/>
        </p:nvSpPr>
        <p:spPr>
          <a:xfrm>
            <a:off x="7123176" y="3840480"/>
            <a:ext cx="21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→</a:t>
            </a:r>
            <a:endParaRPr lang="en-US" sz="1800" dirty="0"/>
          </a:p>
        </p:txBody>
      </p:sp>
      <p:sp>
        <p:nvSpPr>
          <p:cNvPr id="96" name="Shape 94"/>
          <p:cNvSpPr/>
          <p:nvPr/>
        </p:nvSpPr>
        <p:spPr>
          <a:xfrm>
            <a:off x="7333488" y="3401568"/>
            <a:ext cx="15087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7333488" y="3401568"/>
            <a:ext cx="150876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333488" y="3401568"/>
            <a:ext cx="15087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.crypt14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73152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49040" y="73152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73152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694944"/>
            <a:ext cx="73152" cy="73152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07024" y="694944"/>
            <a:ext cx="73152" cy="73152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463040"/>
            <a:ext cx="731520" cy="10973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1463040"/>
            <a:ext cx="731520" cy="10973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35424" y="1426464"/>
            <a:ext cx="73152" cy="73152"/>
          </a:xfrm>
          <a:prstGeom prst="ellipse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286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2286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2286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63824" y="2249424"/>
            <a:ext cx="73152" cy="73152"/>
          </a:xfrm>
          <a:prstGeom prst="ellipse">
            <a:avLst/>
          </a:prstGeom>
          <a:solidFill>
            <a:srgbClr val="EA580C">
              <a:alpha val="12000"/>
            </a:srgbClr>
          </a:solidFill>
          <a:ln w="12700">
            <a:solidFill>
              <a:srgbClr val="EA580C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310896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310896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310896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00784" y="3072384"/>
            <a:ext cx="73152" cy="73152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61504" y="3072384"/>
            <a:ext cx="73152" cy="73152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3840480"/>
            <a:ext cx="731520" cy="10973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3840480"/>
            <a:ext cx="731520" cy="10973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" y="3803904"/>
            <a:ext cx="73152" cy="73152"/>
          </a:xfrm>
          <a:prstGeom prst="ellipse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07024" y="3803904"/>
            <a:ext cx="73152" cy="73152"/>
          </a:xfrm>
          <a:prstGeom prst="ellipse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4572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4572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4572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35424" y="4535424"/>
            <a:ext cx="73152" cy="73152"/>
          </a:xfrm>
          <a:prstGeom prst="ellipse">
            <a:avLst/>
          </a:prstGeom>
          <a:solidFill>
            <a:srgbClr val="EA580C">
              <a:alpha val="12000"/>
            </a:srgbClr>
          </a:solidFill>
          <a:ln w="12700">
            <a:solidFill>
              <a:srgbClr val="EA580C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37360" y="731520"/>
            <a:ext cx="10973" cy="731520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2286000"/>
            <a:ext cx="10973" cy="822960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3840480"/>
            <a:ext cx="10973" cy="731520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1463040"/>
            <a:ext cx="10973" cy="822960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27432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36576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38912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457200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89120" y="18288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0560" y="466344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71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28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29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43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00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15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72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29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86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91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 /  METHODOLOGY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57200" y="402336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5-Phase Investigation Process</a:t>
            </a:r>
            <a:endParaRPr lang="en-US" sz="2600" dirty="0"/>
          </a:p>
        </p:txBody>
      </p:sp>
      <p:sp>
        <p:nvSpPr>
          <p:cNvPr id="60" name="Shape 58"/>
          <p:cNvSpPr/>
          <p:nvPr/>
        </p:nvSpPr>
        <p:spPr>
          <a:xfrm>
            <a:off x="365760" y="1188720"/>
            <a:ext cx="1508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65760" y="1188720"/>
            <a:ext cx="1508760" cy="822960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41248" y="1261872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41248" y="1261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438912" y="2066544"/>
            <a:ext cx="1362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 Setup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40080" y="2551176"/>
            <a:ext cx="9601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57200" y="2633472"/>
            <a:ext cx="13258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5488" y="2633472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 &amp; Flask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57200" y="3172968"/>
            <a:ext cx="13258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5488" y="3172968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pycryptodome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57200" y="3712464"/>
            <a:ext cx="13258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5488" y="3712464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DB Browser SQLite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57200" y="4251960"/>
            <a:ext cx="13258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5488" y="4251960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forensic lab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084832" y="1188720"/>
            <a:ext cx="1508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2084832" y="1188720"/>
            <a:ext cx="1508760" cy="82296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560320" y="1261872"/>
            <a:ext cx="548640" cy="5486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560320" y="1261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78" name="Text 76"/>
          <p:cNvSpPr/>
          <p:nvPr/>
        </p:nvSpPr>
        <p:spPr>
          <a:xfrm>
            <a:off x="2157984" y="2066544"/>
            <a:ext cx="1362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Evidence Acquisition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359152" y="2551176"/>
            <a:ext cx="9601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176272" y="2633472"/>
            <a:ext cx="13258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194560" y="2633472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msgstore.db.crypt14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2176272" y="3172968"/>
            <a:ext cx="13258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194560" y="3172968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key file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2176272" y="3712464"/>
            <a:ext cx="13258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194560" y="3712464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SHA-256 hashes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2176272" y="4251960"/>
            <a:ext cx="13258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194560" y="4251960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Chain of Custody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3803904" y="1188720"/>
            <a:ext cx="1508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3803904" y="1188720"/>
            <a:ext cx="1508760" cy="822960"/>
          </a:xfrm>
          <a:prstGeom prst="rect">
            <a:avLst/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279392" y="1261872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279392" y="1261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92" name="Text 90"/>
          <p:cNvSpPr/>
          <p:nvPr/>
        </p:nvSpPr>
        <p:spPr>
          <a:xfrm>
            <a:off x="3877056" y="2066544"/>
            <a:ext cx="1362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Decryption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4078224" y="2551176"/>
            <a:ext cx="9601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895344" y="2633472"/>
            <a:ext cx="13258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913632" y="2633472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AES-256 key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3895344" y="3172968"/>
            <a:ext cx="13258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913632" y="3172968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IV from header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3895344" y="3712464"/>
            <a:ext cx="13258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913632" y="3712464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AES-256-GCM decrypt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3895344" y="4251960"/>
            <a:ext cx="13258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913632" y="4251960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SQLite database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5522976" y="1188720"/>
            <a:ext cx="1508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5522976" y="1188720"/>
            <a:ext cx="1508760" cy="822960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998464" y="1261872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998464" y="1261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106" name="Text 104"/>
          <p:cNvSpPr/>
          <p:nvPr/>
        </p:nvSpPr>
        <p:spPr>
          <a:xfrm>
            <a:off x="5596128" y="2066544"/>
            <a:ext cx="1362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Analysis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5797296" y="2551176"/>
            <a:ext cx="9601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614416" y="2633472"/>
            <a:ext cx="13258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632704" y="2633472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SQLite Browser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5614416" y="3172968"/>
            <a:ext cx="13258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32704" y="3172968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messages table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5614416" y="3712464"/>
            <a:ext cx="13258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632704" y="3712464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contacts/timestamps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5614416" y="4251960"/>
            <a:ext cx="13258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632704" y="4251960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forensic artifacts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7242048" y="1188720"/>
            <a:ext cx="1508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117" name="Shape 115"/>
          <p:cNvSpPr/>
          <p:nvPr/>
        </p:nvSpPr>
        <p:spPr>
          <a:xfrm>
            <a:off x="7242048" y="1188720"/>
            <a:ext cx="1508760" cy="822960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717536" y="1261872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717536" y="1261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120" name="Text 118"/>
          <p:cNvSpPr/>
          <p:nvPr/>
        </p:nvSpPr>
        <p:spPr>
          <a:xfrm>
            <a:off x="7315200" y="2066544"/>
            <a:ext cx="1362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Reporting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7516368" y="2551176"/>
            <a:ext cx="9601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333488" y="2633472"/>
            <a:ext cx="13258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7351776" y="2633472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findings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7333488" y="3172968"/>
            <a:ext cx="13258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351776" y="3172968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hash report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7333488" y="3712464"/>
            <a:ext cx="13258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7351776" y="3712464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JSON &amp; CSV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7333488" y="4251960"/>
            <a:ext cx="13258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351776" y="4251960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forensic report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731520"/>
            <a:ext cx="365760" cy="10973"/>
          </a:xfrm>
          <a:prstGeom prst="rect">
            <a:avLst/>
          </a:prstGeom>
          <a:solidFill>
            <a:srgbClr val="1D4ED8">
              <a:alpha val="20000"/>
            </a:srgbClr>
          </a:solidFill>
          <a:ln w="12700">
            <a:solidFill>
              <a:srgbClr val="1D4ED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49040" y="731520"/>
            <a:ext cx="365760" cy="10973"/>
          </a:xfrm>
          <a:prstGeom prst="rect">
            <a:avLst/>
          </a:prstGeom>
          <a:solidFill>
            <a:srgbClr val="1D4ED8">
              <a:alpha val="20000"/>
            </a:srgbClr>
          </a:solidFill>
          <a:ln w="12700">
            <a:solidFill>
              <a:srgbClr val="1D4ED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731520"/>
            <a:ext cx="365760" cy="10973"/>
          </a:xfrm>
          <a:prstGeom prst="rect">
            <a:avLst/>
          </a:prstGeom>
          <a:solidFill>
            <a:srgbClr val="1D4ED8">
              <a:alpha val="20000"/>
            </a:srgbClr>
          </a:solidFill>
          <a:ln w="12700">
            <a:solidFill>
              <a:srgbClr val="1D4ED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694944"/>
            <a:ext cx="73152" cy="73152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07024" y="694944"/>
            <a:ext cx="73152" cy="73152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463040"/>
            <a:ext cx="731520" cy="10973"/>
          </a:xfrm>
          <a:prstGeom prst="rect">
            <a:avLst/>
          </a:prstGeom>
          <a:solidFill>
            <a:srgbClr val="059669">
              <a:alpha val="20000"/>
            </a:srgbClr>
          </a:solidFill>
          <a:ln w="12700">
            <a:solidFill>
              <a:srgbClr val="059669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1463040"/>
            <a:ext cx="731520" cy="10973"/>
          </a:xfrm>
          <a:prstGeom prst="rect">
            <a:avLst/>
          </a:prstGeom>
          <a:solidFill>
            <a:srgbClr val="059669">
              <a:alpha val="20000"/>
            </a:srgbClr>
          </a:solidFill>
          <a:ln w="12700">
            <a:solidFill>
              <a:srgbClr val="059669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35424" y="1426464"/>
            <a:ext cx="73152" cy="73152"/>
          </a:xfrm>
          <a:prstGeom prst="ellipse">
            <a:avLst/>
          </a:prstGeom>
          <a:solidFill>
            <a:srgbClr val="059669">
              <a:alpha val="25000"/>
            </a:srgbClr>
          </a:solidFill>
          <a:ln w="12700">
            <a:solidFill>
              <a:srgbClr val="059669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286000"/>
            <a:ext cx="548640" cy="10973"/>
          </a:xfrm>
          <a:prstGeom prst="rect">
            <a:avLst/>
          </a:prstGeom>
          <a:solidFill>
            <a:srgbClr val="EA580C">
              <a:alpha val="20000"/>
            </a:srgbClr>
          </a:solidFill>
          <a:ln w="12700">
            <a:solidFill>
              <a:srgbClr val="EA580C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2286000"/>
            <a:ext cx="548640" cy="10973"/>
          </a:xfrm>
          <a:prstGeom prst="rect">
            <a:avLst/>
          </a:prstGeom>
          <a:solidFill>
            <a:srgbClr val="EA580C">
              <a:alpha val="20000"/>
            </a:srgbClr>
          </a:solidFill>
          <a:ln w="12700">
            <a:solidFill>
              <a:srgbClr val="EA580C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2286000"/>
            <a:ext cx="548640" cy="10973"/>
          </a:xfrm>
          <a:prstGeom prst="rect">
            <a:avLst/>
          </a:prstGeom>
          <a:solidFill>
            <a:srgbClr val="EA580C">
              <a:alpha val="20000"/>
            </a:srgbClr>
          </a:solidFill>
          <a:ln w="12700">
            <a:solidFill>
              <a:srgbClr val="EA580C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63824" y="2249424"/>
            <a:ext cx="73152" cy="73152"/>
          </a:xfrm>
          <a:prstGeom prst="ellipse">
            <a:avLst/>
          </a:prstGeom>
          <a:solidFill>
            <a:srgbClr val="EA580C">
              <a:alpha val="25000"/>
            </a:srgbClr>
          </a:solidFill>
          <a:ln w="12700">
            <a:solidFill>
              <a:srgbClr val="EA580C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3108960"/>
            <a:ext cx="365760" cy="10973"/>
          </a:xfrm>
          <a:prstGeom prst="rect">
            <a:avLst/>
          </a:prstGeom>
          <a:solidFill>
            <a:srgbClr val="1D4ED8">
              <a:alpha val="20000"/>
            </a:srgbClr>
          </a:solidFill>
          <a:ln w="12700">
            <a:solidFill>
              <a:srgbClr val="1D4ED8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3108960"/>
            <a:ext cx="365760" cy="10973"/>
          </a:xfrm>
          <a:prstGeom prst="rect">
            <a:avLst/>
          </a:prstGeom>
          <a:solidFill>
            <a:srgbClr val="1D4ED8">
              <a:alpha val="20000"/>
            </a:srgbClr>
          </a:solidFill>
          <a:ln w="12700">
            <a:solidFill>
              <a:srgbClr val="1D4ED8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3108960"/>
            <a:ext cx="365760" cy="10973"/>
          </a:xfrm>
          <a:prstGeom prst="rect">
            <a:avLst/>
          </a:prstGeom>
          <a:solidFill>
            <a:srgbClr val="1D4ED8">
              <a:alpha val="20000"/>
            </a:srgbClr>
          </a:solidFill>
          <a:ln w="12700">
            <a:solidFill>
              <a:srgbClr val="1D4ED8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00784" y="3072384"/>
            <a:ext cx="73152" cy="73152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61504" y="3072384"/>
            <a:ext cx="73152" cy="73152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3840480"/>
            <a:ext cx="731520" cy="10973"/>
          </a:xfrm>
          <a:prstGeom prst="rect">
            <a:avLst/>
          </a:prstGeom>
          <a:solidFill>
            <a:srgbClr val="059669">
              <a:alpha val="20000"/>
            </a:srgbClr>
          </a:solidFill>
          <a:ln w="12700">
            <a:solidFill>
              <a:srgbClr val="059669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3840480"/>
            <a:ext cx="731520" cy="10973"/>
          </a:xfrm>
          <a:prstGeom prst="rect">
            <a:avLst/>
          </a:prstGeom>
          <a:solidFill>
            <a:srgbClr val="059669">
              <a:alpha val="20000"/>
            </a:srgbClr>
          </a:solidFill>
          <a:ln w="12700">
            <a:solidFill>
              <a:srgbClr val="059669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" y="3803904"/>
            <a:ext cx="73152" cy="73152"/>
          </a:xfrm>
          <a:prstGeom prst="ellipse">
            <a:avLst/>
          </a:prstGeom>
          <a:solidFill>
            <a:srgbClr val="059669">
              <a:alpha val="25000"/>
            </a:srgbClr>
          </a:solidFill>
          <a:ln w="12700">
            <a:solidFill>
              <a:srgbClr val="059669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07024" y="3803904"/>
            <a:ext cx="73152" cy="73152"/>
          </a:xfrm>
          <a:prstGeom prst="ellipse">
            <a:avLst/>
          </a:prstGeom>
          <a:solidFill>
            <a:srgbClr val="059669">
              <a:alpha val="25000"/>
            </a:srgbClr>
          </a:solidFill>
          <a:ln w="12700">
            <a:solidFill>
              <a:srgbClr val="059669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4572000"/>
            <a:ext cx="548640" cy="10973"/>
          </a:xfrm>
          <a:prstGeom prst="rect">
            <a:avLst/>
          </a:prstGeom>
          <a:solidFill>
            <a:srgbClr val="EA580C">
              <a:alpha val="20000"/>
            </a:srgbClr>
          </a:solidFill>
          <a:ln w="12700">
            <a:solidFill>
              <a:srgbClr val="EA580C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4572000"/>
            <a:ext cx="548640" cy="10973"/>
          </a:xfrm>
          <a:prstGeom prst="rect">
            <a:avLst/>
          </a:prstGeom>
          <a:solidFill>
            <a:srgbClr val="EA580C">
              <a:alpha val="20000"/>
            </a:srgbClr>
          </a:solidFill>
          <a:ln w="12700">
            <a:solidFill>
              <a:srgbClr val="EA580C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4572000"/>
            <a:ext cx="548640" cy="10973"/>
          </a:xfrm>
          <a:prstGeom prst="rect">
            <a:avLst/>
          </a:prstGeom>
          <a:solidFill>
            <a:srgbClr val="EA580C">
              <a:alpha val="20000"/>
            </a:srgbClr>
          </a:solidFill>
          <a:ln w="12700">
            <a:solidFill>
              <a:srgbClr val="EA580C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35424" y="4535424"/>
            <a:ext cx="73152" cy="73152"/>
          </a:xfrm>
          <a:prstGeom prst="ellipse">
            <a:avLst/>
          </a:prstGeom>
          <a:solidFill>
            <a:srgbClr val="EA580C">
              <a:alpha val="25000"/>
            </a:srgbClr>
          </a:solidFill>
          <a:ln w="12700">
            <a:solidFill>
              <a:srgbClr val="EA580C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37360" y="731520"/>
            <a:ext cx="10973" cy="731520"/>
          </a:xfrm>
          <a:prstGeom prst="rect">
            <a:avLst/>
          </a:prstGeom>
          <a:solidFill>
            <a:srgbClr val="1D4ED8">
              <a:alpha val="20000"/>
            </a:srgbClr>
          </a:solidFill>
          <a:ln w="12700">
            <a:solidFill>
              <a:srgbClr val="1D4ED8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2286000"/>
            <a:ext cx="10973" cy="822960"/>
          </a:xfrm>
          <a:prstGeom prst="rect">
            <a:avLst/>
          </a:prstGeom>
          <a:solidFill>
            <a:srgbClr val="059669">
              <a:alpha val="20000"/>
            </a:srgbClr>
          </a:solidFill>
          <a:ln w="12700">
            <a:solidFill>
              <a:srgbClr val="059669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3840480"/>
            <a:ext cx="10973" cy="731520"/>
          </a:xfrm>
          <a:prstGeom prst="rect">
            <a:avLst/>
          </a:prstGeom>
          <a:solidFill>
            <a:srgbClr val="EA580C">
              <a:alpha val="20000"/>
            </a:srgbClr>
          </a:solidFill>
          <a:ln w="12700">
            <a:solidFill>
              <a:srgbClr val="EA580C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1463040"/>
            <a:ext cx="10973" cy="822960"/>
          </a:xfrm>
          <a:prstGeom prst="rect">
            <a:avLst/>
          </a:prstGeom>
          <a:solidFill>
            <a:srgbClr val="1D4ED8">
              <a:alpha val="20000"/>
            </a:srgbClr>
          </a:solidFill>
          <a:ln w="12700">
            <a:solidFill>
              <a:srgbClr val="1D4ED8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274320"/>
            <a:ext cx="164592" cy="164592"/>
          </a:xfrm>
          <a:prstGeom prst="rect">
            <a:avLst/>
          </a:prstGeom>
          <a:solidFill>
            <a:srgbClr val="1D4ED8">
              <a:alpha val="15000"/>
            </a:srgbClr>
          </a:solidFill>
          <a:ln w="12700">
            <a:solidFill>
              <a:srgbClr val="059669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365760"/>
            <a:ext cx="164592" cy="164592"/>
          </a:xfrm>
          <a:prstGeom prst="rect">
            <a:avLst/>
          </a:prstGeom>
          <a:solidFill>
            <a:srgbClr val="1D4ED8">
              <a:alpha val="15000"/>
            </a:srgbClr>
          </a:solidFill>
          <a:ln w="12700">
            <a:solidFill>
              <a:srgbClr val="059669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389120"/>
            <a:ext cx="164592" cy="164592"/>
          </a:xfrm>
          <a:prstGeom prst="rect">
            <a:avLst/>
          </a:prstGeom>
          <a:solidFill>
            <a:srgbClr val="1D4ED8">
              <a:alpha val="15000"/>
            </a:srgbClr>
          </a:solidFill>
          <a:ln w="12700">
            <a:solidFill>
              <a:srgbClr val="059669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4572000"/>
            <a:ext cx="164592" cy="164592"/>
          </a:xfrm>
          <a:prstGeom prst="rect">
            <a:avLst/>
          </a:prstGeom>
          <a:solidFill>
            <a:srgbClr val="1D4ED8">
              <a:alpha val="15000"/>
            </a:srgbClr>
          </a:solidFill>
          <a:ln w="12700">
            <a:solidFill>
              <a:srgbClr val="059669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89120" y="182880"/>
            <a:ext cx="164592" cy="164592"/>
          </a:xfrm>
          <a:prstGeom prst="rect">
            <a:avLst/>
          </a:prstGeom>
          <a:solidFill>
            <a:srgbClr val="1D4ED8">
              <a:alpha val="15000"/>
            </a:srgbClr>
          </a:solidFill>
          <a:ln w="12700">
            <a:solidFill>
              <a:srgbClr val="059669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0560" y="4663440"/>
            <a:ext cx="164592" cy="164592"/>
          </a:xfrm>
          <a:prstGeom prst="rect">
            <a:avLst/>
          </a:prstGeom>
          <a:solidFill>
            <a:srgbClr val="1D4ED8">
              <a:alpha val="15000"/>
            </a:srgbClr>
          </a:solidFill>
          <a:ln w="12700">
            <a:solidFill>
              <a:srgbClr val="059669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71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28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29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43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00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15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72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29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86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91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 /  FLOW CHART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57200" y="402336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Data Flow Diagram</a:t>
            </a:r>
            <a:endParaRPr lang="en-US" sz="2600" dirty="0"/>
          </a:p>
        </p:txBody>
      </p:sp>
      <p:sp>
        <p:nvSpPr>
          <p:cNvPr id="60" name="Shape 58"/>
          <p:cNvSpPr/>
          <p:nvPr/>
        </p:nvSpPr>
        <p:spPr>
          <a:xfrm>
            <a:off x="3566160" y="1188720"/>
            <a:ext cx="2011680" cy="5029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3566160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 USER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4544568" y="1691640"/>
            <a:ext cx="54864" cy="27432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453128" y="1901952"/>
            <a:ext cx="237744" cy="7315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507992" y="1920240"/>
            <a:ext cx="128016" cy="1371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43200" y="2057400"/>
            <a:ext cx="36576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2834640" y="2057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📤  Upload key + .crypt14 Files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4544568" y="2606040"/>
            <a:ext cx="54864" cy="201168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00400" y="2807208"/>
            <a:ext cx="2743200" cy="548640"/>
          </a:xfrm>
          <a:prstGeom prst="rect">
            <a:avLst/>
          </a:prstGeom>
          <a:solidFill>
            <a:srgbClr val="064E3B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3200400" y="2807208"/>
            <a:ext cx="64008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91840" y="2807208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🌐  Flask API  /api/upload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365760" y="2944368"/>
            <a:ext cx="2560320" cy="292608"/>
          </a:xfrm>
          <a:prstGeom prst="roundRect">
            <a:avLst>
              <a:gd name="adj" fmla="val 18750"/>
            </a:avLst>
          </a:prstGeom>
          <a:solidFill>
            <a:srgbClr val="1C325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5760" y="29443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🔑 key file  +  📦 .crypt14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2926080" y="3044952"/>
            <a:ext cx="292608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145536" y="2971800"/>
            <a:ext cx="73152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544568" y="3355848"/>
            <a:ext cx="54864" cy="201168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200400" y="3557016"/>
            <a:ext cx="2743200" cy="594360"/>
          </a:xfrm>
          <a:prstGeom prst="rect">
            <a:avLst/>
          </a:prstGeom>
          <a:solidFill>
            <a:srgbClr val="431407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3200400" y="3557016"/>
            <a:ext cx="64008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91840" y="3557016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🔓  decrypt.py  AES-256-GCM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6217920" y="3630168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064E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17920" y="36301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SQLite DB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5943600" y="3749040"/>
            <a:ext cx="292608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217920" y="3977640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450A0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217920" y="39776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Error → Stop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5943600" y="4087368"/>
            <a:ext cx="292608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544568" y="4151376"/>
            <a:ext cx="54864" cy="18288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00400" y="4334256"/>
            <a:ext cx="2743200" cy="502920"/>
          </a:xfrm>
          <a:prstGeom prst="rect">
            <a:avLst/>
          </a:prstGeom>
          <a:solidFill>
            <a:srgbClr val="1E1B4B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3200400" y="4334256"/>
            <a:ext cx="64008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291840" y="4334256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analyzer.py  →  JSON Response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6217920" y="4370832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1C325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236208" y="4352544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🖥️  Dashboard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Charts + Messages + Hashes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5943600" y="4544568"/>
            <a:ext cx="292608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73152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49040" y="73152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73152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694944"/>
            <a:ext cx="73152" cy="73152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07024" y="694944"/>
            <a:ext cx="73152" cy="73152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463040"/>
            <a:ext cx="731520" cy="10973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1463040"/>
            <a:ext cx="731520" cy="10973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35424" y="1426464"/>
            <a:ext cx="73152" cy="73152"/>
          </a:xfrm>
          <a:prstGeom prst="ellipse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286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2286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2286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63824" y="2249424"/>
            <a:ext cx="73152" cy="73152"/>
          </a:xfrm>
          <a:prstGeom prst="ellipse">
            <a:avLst/>
          </a:prstGeom>
          <a:solidFill>
            <a:srgbClr val="EA580C">
              <a:alpha val="12000"/>
            </a:srgbClr>
          </a:solidFill>
          <a:ln w="12700">
            <a:solidFill>
              <a:srgbClr val="EA580C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310896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310896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310896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00784" y="3072384"/>
            <a:ext cx="73152" cy="73152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61504" y="3072384"/>
            <a:ext cx="73152" cy="73152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3840480"/>
            <a:ext cx="731520" cy="10973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3840480"/>
            <a:ext cx="731520" cy="10973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" y="3803904"/>
            <a:ext cx="73152" cy="73152"/>
          </a:xfrm>
          <a:prstGeom prst="ellipse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07024" y="3803904"/>
            <a:ext cx="73152" cy="73152"/>
          </a:xfrm>
          <a:prstGeom prst="ellipse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4572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4572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4572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35424" y="4535424"/>
            <a:ext cx="73152" cy="73152"/>
          </a:xfrm>
          <a:prstGeom prst="ellipse">
            <a:avLst/>
          </a:prstGeom>
          <a:solidFill>
            <a:srgbClr val="EA580C">
              <a:alpha val="12000"/>
            </a:srgbClr>
          </a:solidFill>
          <a:ln w="12700">
            <a:solidFill>
              <a:srgbClr val="EA580C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37360" y="731520"/>
            <a:ext cx="10973" cy="731520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2286000"/>
            <a:ext cx="10973" cy="822960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3840480"/>
            <a:ext cx="10973" cy="731520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1463040"/>
            <a:ext cx="10973" cy="822960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27432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36576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38912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457200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89120" y="18288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0560" y="466344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71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28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29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43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00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15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72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29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86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91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/  RESULTS &amp; OUTPUT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57200" y="402336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Our Tool Produces</a:t>
            </a:r>
            <a:endParaRPr lang="en-US" sz="2600" dirty="0"/>
          </a:p>
        </p:txBody>
      </p:sp>
      <p:sp>
        <p:nvSpPr>
          <p:cNvPr id="60" name="Shape 58"/>
          <p:cNvSpPr/>
          <p:nvPr/>
        </p:nvSpPr>
        <p:spPr>
          <a:xfrm>
            <a:off x="457200" y="1207008"/>
            <a:ext cx="199339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57200" y="1207008"/>
            <a:ext cx="1993392" cy="566928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1225296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AES-256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457200" y="178308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Decrypted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2633472" y="1207008"/>
            <a:ext cx="199339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2633472" y="1207008"/>
            <a:ext cx="1993392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633472" y="1225296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SHA-256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2633472" y="178308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Custody Hash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809744" y="1207008"/>
            <a:ext cx="199339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809744" y="1207008"/>
            <a:ext cx="1993392" cy="566928"/>
          </a:xfrm>
          <a:prstGeom prst="rect">
            <a:avLst/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09744" y="1225296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SQLite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4809744" y="178308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Recovered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986016" y="1207008"/>
            <a:ext cx="199339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6986016" y="1207008"/>
            <a:ext cx="1993392" cy="566928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986016" y="1225296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Charts</a:t>
            </a:r>
            <a:endParaRPr lang="en-US" sz="1800" dirty="0"/>
          </a:p>
        </p:txBody>
      </p:sp>
      <p:sp>
        <p:nvSpPr>
          <p:cNvPr id="75" name="Text 73"/>
          <p:cNvSpPr/>
          <p:nvPr/>
        </p:nvSpPr>
        <p:spPr>
          <a:xfrm>
            <a:off x="6986016" y="178308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Graphs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457200" y="2633472"/>
            <a:ext cx="1993392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457200" y="2633472"/>
            <a:ext cx="1993392" cy="548640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265176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79" name="Text 77"/>
          <p:cNvSpPr/>
          <p:nvPr/>
        </p:nvSpPr>
        <p:spPr>
          <a:xfrm>
            <a:off x="548640" y="322783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Recovered Messages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914400" y="3621024"/>
            <a:ext cx="1078992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48640" y="3694176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chat messages with contact JID, text, UTC timestamp, and direction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2633472" y="2633472"/>
            <a:ext cx="1993392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2633472" y="2633472"/>
            <a:ext cx="1993392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633472" y="265176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85" name="Text 83"/>
          <p:cNvSpPr/>
          <p:nvPr/>
        </p:nvSpPr>
        <p:spPr>
          <a:xfrm>
            <a:off x="2724912" y="322783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SHA-256 Hashes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3090672" y="3621024"/>
            <a:ext cx="1078992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724912" y="3694176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hashes proving key file, encrypted DB, and decrypted DB integrity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4809744" y="2633472"/>
            <a:ext cx="1993392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4809744" y="2633472"/>
            <a:ext cx="1993392" cy="548640"/>
          </a:xfrm>
          <a:prstGeom prst="rect">
            <a:avLst/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809744" y="265176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91" name="Text 89"/>
          <p:cNvSpPr/>
          <p:nvPr/>
        </p:nvSpPr>
        <p:spPr>
          <a:xfrm>
            <a:off x="4901184" y="322783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Visual Charts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5266944" y="3621024"/>
            <a:ext cx="1078992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901184" y="3694176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(contacts), doughnut (sent vs received), line chart (timeline)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6986016" y="2633472"/>
            <a:ext cx="1993392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6986016" y="2633472"/>
            <a:ext cx="1993392" cy="548640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986016" y="265176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97" name="Text 95"/>
          <p:cNvSpPr/>
          <p:nvPr/>
        </p:nvSpPr>
        <p:spPr>
          <a:xfrm>
            <a:off x="7077456" y="322783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Export Reports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7443216" y="3621024"/>
            <a:ext cx="1078992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077456" y="3694176"/>
            <a:ext cx="1810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as JSON forensic report or CSV spreadsheet for legal submission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73152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49040" y="73152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73152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694944"/>
            <a:ext cx="73152" cy="73152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07024" y="694944"/>
            <a:ext cx="73152" cy="73152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463040"/>
            <a:ext cx="731520" cy="10973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1463040"/>
            <a:ext cx="731520" cy="10973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35424" y="1426464"/>
            <a:ext cx="73152" cy="73152"/>
          </a:xfrm>
          <a:prstGeom prst="ellipse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286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2286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2286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63824" y="2249424"/>
            <a:ext cx="73152" cy="73152"/>
          </a:xfrm>
          <a:prstGeom prst="ellipse">
            <a:avLst/>
          </a:prstGeom>
          <a:solidFill>
            <a:srgbClr val="EA580C">
              <a:alpha val="12000"/>
            </a:srgbClr>
          </a:solidFill>
          <a:ln w="12700">
            <a:solidFill>
              <a:srgbClr val="EA580C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310896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310896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3108960"/>
            <a:ext cx="365760" cy="10973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00784" y="3072384"/>
            <a:ext cx="73152" cy="73152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61504" y="3072384"/>
            <a:ext cx="73152" cy="73152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3840480"/>
            <a:ext cx="731520" cy="10973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3840480"/>
            <a:ext cx="731520" cy="10973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" y="3803904"/>
            <a:ext cx="73152" cy="73152"/>
          </a:xfrm>
          <a:prstGeom prst="ellipse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07024" y="3803904"/>
            <a:ext cx="73152" cy="73152"/>
          </a:xfrm>
          <a:prstGeom prst="ellipse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4572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4572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4572000"/>
            <a:ext cx="548640" cy="10973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35424" y="4535424"/>
            <a:ext cx="73152" cy="73152"/>
          </a:xfrm>
          <a:prstGeom prst="ellipse">
            <a:avLst/>
          </a:prstGeom>
          <a:solidFill>
            <a:srgbClr val="EA580C">
              <a:alpha val="12000"/>
            </a:srgbClr>
          </a:solidFill>
          <a:ln w="12700">
            <a:solidFill>
              <a:srgbClr val="EA580C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37360" y="731520"/>
            <a:ext cx="10973" cy="731520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2286000"/>
            <a:ext cx="10973" cy="822960"/>
          </a:xfrm>
          <a:prstGeom prst="rect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3840480"/>
            <a:ext cx="10973" cy="731520"/>
          </a:xfrm>
          <a:prstGeom prst="rect">
            <a:avLst/>
          </a:prstGeom>
          <a:solidFill>
            <a:srgbClr val="EA580C">
              <a:alpha val="7000"/>
            </a:srgbClr>
          </a:solidFill>
          <a:ln w="12700">
            <a:solidFill>
              <a:srgbClr val="EA580C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1463040"/>
            <a:ext cx="10973" cy="822960"/>
          </a:xfrm>
          <a:prstGeom prst="rect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27432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36576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38912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457200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89120" y="18288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0560" y="4663440"/>
            <a:ext cx="164592" cy="164592"/>
          </a:xfrm>
          <a:prstGeom prst="rect">
            <a:avLst/>
          </a:prstGeom>
          <a:solidFill>
            <a:srgbClr val="1D4ED8">
              <a:alpha val="2000"/>
            </a:srgbClr>
          </a:solidFill>
          <a:ln w="12700">
            <a:solidFill>
              <a:srgbClr val="059669">
                <a:alpha val="7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71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28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29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43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00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152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724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296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86800" y="0"/>
            <a:ext cx="457200" cy="1078992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91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/  CONCLUSION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57200" y="402336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60" name="Shape 58"/>
          <p:cNvSpPr/>
          <p:nvPr/>
        </p:nvSpPr>
        <p:spPr>
          <a:xfrm>
            <a:off x="457200" y="1234440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57200" y="1234440"/>
            <a:ext cx="594360" cy="62179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1234440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🔓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1143000" y="123444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demonstrated AES-256-GCM decryption of WhatsApp .crypt14 databases using Python and pycryptodome library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457200" y="1975104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57200" y="1975104"/>
            <a:ext cx="594360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1975104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1143000" y="1975104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and analyzed forensic artifacts from SQLite database — messages, contacts, timestamps, and media references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57200" y="2715768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57200" y="2715768"/>
            <a:ext cx="594360" cy="621792"/>
          </a:xfrm>
          <a:prstGeom prst="rect">
            <a:avLst/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7200" y="2715768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⛓️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1143000" y="2715768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Chain of Custody using SHA-256 hashing — proving evidence integrity before and after decryption process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457200" y="3456432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457200" y="3456432"/>
            <a:ext cx="594360" cy="621792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7200" y="3456432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75" name="Text 73"/>
          <p:cNvSpPr/>
          <p:nvPr/>
        </p:nvSpPr>
        <p:spPr>
          <a:xfrm>
            <a:off x="1143000" y="3456432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 full-stack web application — Python Flask backend and HTML/CSS/JS frontend with charts and export buttons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457200" y="4197096"/>
            <a:ext cx="8229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25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457200" y="4197096"/>
            <a:ext cx="594360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4197096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79" name="Text 77"/>
          <p:cNvSpPr/>
          <p:nvPr/>
        </p:nvSpPr>
        <p:spPr>
          <a:xfrm>
            <a:off x="1143000" y="419709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demonstrates real-world application of cryptography, digital forensics, and secure software development skills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731520"/>
            <a:ext cx="365760" cy="10973"/>
          </a:xfrm>
          <a:prstGeom prst="rect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49040" y="731520"/>
            <a:ext cx="365760" cy="10973"/>
          </a:xfrm>
          <a:prstGeom prst="rect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731520"/>
            <a:ext cx="365760" cy="10973"/>
          </a:xfrm>
          <a:prstGeom prst="rect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694944"/>
            <a:ext cx="73152" cy="73152"/>
          </a:xfrm>
          <a:prstGeom prst="ellipse">
            <a:avLst/>
          </a:prstGeom>
          <a:solidFill>
            <a:srgbClr val="1D4ED8">
              <a:alpha val="27000"/>
            </a:srgbClr>
          </a:solidFill>
          <a:ln w="12700">
            <a:solidFill>
              <a:srgbClr val="1D4ED8">
                <a:alpha val="2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07024" y="694944"/>
            <a:ext cx="73152" cy="73152"/>
          </a:xfrm>
          <a:prstGeom prst="ellipse">
            <a:avLst/>
          </a:prstGeom>
          <a:solidFill>
            <a:srgbClr val="1D4ED8">
              <a:alpha val="27000"/>
            </a:srgbClr>
          </a:solidFill>
          <a:ln w="12700">
            <a:solidFill>
              <a:srgbClr val="1D4ED8">
                <a:alpha val="2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463040"/>
            <a:ext cx="731520" cy="10973"/>
          </a:xfrm>
          <a:prstGeom prst="rect">
            <a:avLst/>
          </a:prstGeom>
          <a:solidFill>
            <a:srgbClr val="059669">
              <a:alpha val="22000"/>
            </a:srgbClr>
          </a:solidFill>
          <a:ln w="12700">
            <a:solidFill>
              <a:srgbClr val="059669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1463040"/>
            <a:ext cx="731520" cy="10973"/>
          </a:xfrm>
          <a:prstGeom prst="rect">
            <a:avLst/>
          </a:prstGeom>
          <a:solidFill>
            <a:srgbClr val="059669">
              <a:alpha val="22000"/>
            </a:srgbClr>
          </a:solidFill>
          <a:ln w="12700">
            <a:solidFill>
              <a:srgbClr val="059669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35424" y="1426464"/>
            <a:ext cx="73152" cy="73152"/>
          </a:xfrm>
          <a:prstGeom prst="ellipse">
            <a:avLst/>
          </a:prstGeom>
          <a:solidFill>
            <a:srgbClr val="059669">
              <a:alpha val="27000"/>
            </a:srgbClr>
          </a:solidFill>
          <a:ln w="12700">
            <a:solidFill>
              <a:srgbClr val="059669">
                <a:alpha val="2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286000"/>
            <a:ext cx="548640" cy="10973"/>
          </a:xfrm>
          <a:prstGeom prst="rect">
            <a:avLst/>
          </a:prstGeom>
          <a:solidFill>
            <a:srgbClr val="EA580C">
              <a:alpha val="22000"/>
            </a:srgbClr>
          </a:solidFill>
          <a:ln w="12700">
            <a:solidFill>
              <a:srgbClr val="EA580C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2286000"/>
            <a:ext cx="548640" cy="10973"/>
          </a:xfrm>
          <a:prstGeom prst="rect">
            <a:avLst/>
          </a:prstGeom>
          <a:solidFill>
            <a:srgbClr val="EA580C">
              <a:alpha val="22000"/>
            </a:srgbClr>
          </a:solidFill>
          <a:ln w="12700">
            <a:solidFill>
              <a:srgbClr val="EA580C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2286000"/>
            <a:ext cx="548640" cy="10973"/>
          </a:xfrm>
          <a:prstGeom prst="rect">
            <a:avLst/>
          </a:prstGeom>
          <a:solidFill>
            <a:srgbClr val="EA580C">
              <a:alpha val="22000"/>
            </a:srgbClr>
          </a:solidFill>
          <a:ln w="12700">
            <a:solidFill>
              <a:srgbClr val="EA580C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63824" y="2249424"/>
            <a:ext cx="73152" cy="73152"/>
          </a:xfrm>
          <a:prstGeom prst="ellipse">
            <a:avLst/>
          </a:prstGeom>
          <a:solidFill>
            <a:srgbClr val="EA580C">
              <a:alpha val="27000"/>
            </a:srgbClr>
          </a:solidFill>
          <a:ln w="12700">
            <a:solidFill>
              <a:srgbClr val="EA580C">
                <a:alpha val="2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3108960"/>
            <a:ext cx="365760" cy="10973"/>
          </a:xfrm>
          <a:prstGeom prst="rect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3108960"/>
            <a:ext cx="365760" cy="10973"/>
          </a:xfrm>
          <a:prstGeom prst="rect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3108960"/>
            <a:ext cx="365760" cy="10973"/>
          </a:xfrm>
          <a:prstGeom prst="rect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00784" y="3072384"/>
            <a:ext cx="73152" cy="73152"/>
          </a:xfrm>
          <a:prstGeom prst="ellipse">
            <a:avLst/>
          </a:prstGeom>
          <a:solidFill>
            <a:srgbClr val="1D4ED8">
              <a:alpha val="27000"/>
            </a:srgbClr>
          </a:solidFill>
          <a:ln w="12700">
            <a:solidFill>
              <a:srgbClr val="1D4ED8">
                <a:alpha val="2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61504" y="3072384"/>
            <a:ext cx="73152" cy="73152"/>
          </a:xfrm>
          <a:prstGeom prst="ellipse">
            <a:avLst/>
          </a:prstGeom>
          <a:solidFill>
            <a:srgbClr val="1D4ED8">
              <a:alpha val="27000"/>
            </a:srgbClr>
          </a:solidFill>
          <a:ln w="12700">
            <a:solidFill>
              <a:srgbClr val="1D4ED8">
                <a:alpha val="2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3840480"/>
            <a:ext cx="731520" cy="10973"/>
          </a:xfrm>
          <a:prstGeom prst="rect">
            <a:avLst/>
          </a:prstGeom>
          <a:solidFill>
            <a:srgbClr val="059669">
              <a:alpha val="22000"/>
            </a:srgbClr>
          </a:solidFill>
          <a:ln w="12700">
            <a:solidFill>
              <a:srgbClr val="059669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3840480"/>
            <a:ext cx="731520" cy="10973"/>
          </a:xfrm>
          <a:prstGeom prst="rect">
            <a:avLst/>
          </a:prstGeom>
          <a:solidFill>
            <a:srgbClr val="059669">
              <a:alpha val="22000"/>
            </a:srgbClr>
          </a:solidFill>
          <a:ln w="12700">
            <a:solidFill>
              <a:srgbClr val="059669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" y="3803904"/>
            <a:ext cx="73152" cy="73152"/>
          </a:xfrm>
          <a:prstGeom prst="ellipse">
            <a:avLst/>
          </a:prstGeom>
          <a:solidFill>
            <a:srgbClr val="059669">
              <a:alpha val="27000"/>
            </a:srgbClr>
          </a:solidFill>
          <a:ln w="12700">
            <a:solidFill>
              <a:srgbClr val="059669">
                <a:alpha val="2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07024" y="3803904"/>
            <a:ext cx="73152" cy="73152"/>
          </a:xfrm>
          <a:prstGeom prst="ellipse">
            <a:avLst/>
          </a:prstGeom>
          <a:solidFill>
            <a:srgbClr val="059669">
              <a:alpha val="27000"/>
            </a:srgbClr>
          </a:solidFill>
          <a:ln w="12700">
            <a:solidFill>
              <a:srgbClr val="059669">
                <a:alpha val="2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4572000"/>
            <a:ext cx="548640" cy="10973"/>
          </a:xfrm>
          <a:prstGeom prst="rect">
            <a:avLst/>
          </a:prstGeom>
          <a:solidFill>
            <a:srgbClr val="EA580C">
              <a:alpha val="22000"/>
            </a:srgbClr>
          </a:solidFill>
          <a:ln w="12700">
            <a:solidFill>
              <a:srgbClr val="EA580C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4572000"/>
            <a:ext cx="548640" cy="10973"/>
          </a:xfrm>
          <a:prstGeom prst="rect">
            <a:avLst/>
          </a:prstGeom>
          <a:solidFill>
            <a:srgbClr val="EA580C">
              <a:alpha val="22000"/>
            </a:srgbClr>
          </a:solidFill>
          <a:ln w="12700">
            <a:solidFill>
              <a:srgbClr val="EA580C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4572000"/>
            <a:ext cx="548640" cy="10973"/>
          </a:xfrm>
          <a:prstGeom prst="rect">
            <a:avLst/>
          </a:prstGeom>
          <a:solidFill>
            <a:srgbClr val="EA580C">
              <a:alpha val="22000"/>
            </a:srgbClr>
          </a:solidFill>
          <a:ln w="12700">
            <a:solidFill>
              <a:srgbClr val="EA580C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35424" y="4535424"/>
            <a:ext cx="73152" cy="73152"/>
          </a:xfrm>
          <a:prstGeom prst="ellipse">
            <a:avLst/>
          </a:prstGeom>
          <a:solidFill>
            <a:srgbClr val="EA580C">
              <a:alpha val="27000"/>
            </a:srgbClr>
          </a:solidFill>
          <a:ln w="12700">
            <a:solidFill>
              <a:srgbClr val="EA580C">
                <a:alpha val="2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37360" y="731520"/>
            <a:ext cx="10973" cy="731520"/>
          </a:xfrm>
          <a:prstGeom prst="rect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2286000"/>
            <a:ext cx="10973" cy="822960"/>
          </a:xfrm>
          <a:prstGeom prst="rect">
            <a:avLst/>
          </a:prstGeom>
          <a:solidFill>
            <a:srgbClr val="059669">
              <a:alpha val="22000"/>
            </a:srgbClr>
          </a:solidFill>
          <a:ln w="12700">
            <a:solidFill>
              <a:srgbClr val="059669">
                <a:alpha val="2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3840480"/>
            <a:ext cx="10973" cy="731520"/>
          </a:xfrm>
          <a:prstGeom prst="rect">
            <a:avLst/>
          </a:prstGeom>
          <a:solidFill>
            <a:srgbClr val="EA580C">
              <a:alpha val="22000"/>
            </a:srgbClr>
          </a:solidFill>
          <a:ln w="12700">
            <a:solidFill>
              <a:srgbClr val="EA580C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1463040"/>
            <a:ext cx="10973" cy="822960"/>
          </a:xfrm>
          <a:prstGeom prst="rect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274320"/>
            <a:ext cx="164592" cy="164592"/>
          </a:xfrm>
          <a:prstGeom prst="rect">
            <a:avLst/>
          </a:prstGeom>
          <a:solidFill>
            <a:srgbClr val="1D4ED8">
              <a:alpha val="17000"/>
            </a:srgbClr>
          </a:solidFill>
          <a:ln w="12700">
            <a:solidFill>
              <a:srgbClr val="059669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365760"/>
            <a:ext cx="164592" cy="164592"/>
          </a:xfrm>
          <a:prstGeom prst="rect">
            <a:avLst/>
          </a:prstGeom>
          <a:solidFill>
            <a:srgbClr val="1D4ED8">
              <a:alpha val="17000"/>
            </a:srgbClr>
          </a:solidFill>
          <a:ln w="12700">
            <a:solidFill>
              <a:srgbClr val="059669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389120"/>
            <a:ext cx="164592" cy="164592"/>
          </a:xfrm>
          <a:prstGeom prst="rect">
            <a:avLst/>
          </a:prstGeom>
          <a:solidFill>
            <a:srgbClr val="1D4ED8">
              <a:alpha val="17000"/>
            </a:srgbClr>
          </a:solidFill>
          <a:ln w="12700">
            <a:solidFill>
              <a:srgbClr val="059669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4572000"/>
            <a:ext cx="164592" cy="164592"/>
          </a:xfrm>
          <a:prstGeom prst="rect">
            <a:avLst/>
          </a:prstGeom>
          <a:solidFill>
            <a:srgbClr val="1D4ED8">
              <a:alpha val="17000"/>
            </a:srgbClr>
          </a:solidFill>
          <a:ln w="12700">
            <a:solidFill>
              <a:srgbClr val="059669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89120" y="182880"/>
            <a:ext cx="164592" cy="164592"/>
          </a:xfrm>
          <a:prstGeom prst="rect">
            <a:avLst/>
          </a:prstGeom>
          <a:solidFill>
            <a:srgbClr val="1D4ED8">
              <a:alpha val="17000"/>
            </a:srgbClr>
          </a:solidFill>
          <a:ln w="12700">
            <a:solidFill>
              <a:srgbClr val="059669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0560" y="4663440"/>
            <a:ext cx="164592" cy="164592"/>
          </a:xfrm>
          <a:prstGeom prst="rect">
            <a:avLst/>
          </a:prstGeom>
          <a:solidFill>
            <a:srgbClr val="1D4ED8">
              <a:alpha val="17000"/>
            </a:srgbClr>
          </a:solidFill>
          <a:ln w="12700">
            <a:solidFill>
              <a:srgbClr val="059669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26080" y="457200"/>
            <a:ext cx="3291840" cy="3291840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1840" y="822960"/>
            <a:ext cx="2560320" cy="256032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3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100584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spc="5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43" name="Shape 41"/>
          <p:cNvSpPr/>
          <p:nvPr/>
        </p:nvSpPr>
        <p:spPr>
          <a:xfrm>
            <a:off x="2286000" y="2468880"/>
            <a:ext cx="45720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Forensics Investigation of WhatsApp on Android Devices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02920" y="3273552"/>
            <a:ext cx="1572768" cy="329184"/>
          </a:xfrm>
          <a:prstGeom prst="roundRect">
            <a:avLst>
              <a:gd name="adj" fmla="val 19444"/>
            </a:avLst>
          </a:prstGeom>
          <a:solidFill>
            <a:srgbClr val="1E29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27355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AES-256-GCM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185416" y="3273552"/>
            <a:ext cx="1572768" cy="329184"/>
          </a:xfrm>
          <a:prstGeom prst="roundRect">
            <a:avLst>
              <a:gd name="adj" fmla="val 19444"/>
            </a:avLst>
          </a:prstGeom>
          <a:solidFill>
            <a:srgbClr val="1E29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85416" y="327355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Flask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867912" y="3273552"/>
            <a:ext cx="1572768" cy="329184"/>
          </a:xfrm>
          <a:prstGeom prst="roundRect">
            <a:avLst>
              <a:gd name="adj" fmla="val 19444"/>
            </a:avLst>
          </a:prstGeom>
          <a:solidFill>
            <a:srgbClr val="1E29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67912" y="327355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 Forensics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550408" y="3273552"/>
            <a:ext cx="1572768" cy="329184"/>
          </a:xfrm>
          <a:prstGeom prst="roundRect">
            <a:avLst>
              <a:gd name="adj" fmla="val 19444"/>
            </a:avLst>
          </a:prstGeom>
          <a:solidFill>
            <a:srgbClr val="1E29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50408" y="327355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 of Custody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232904" y="3273552"/>
            <a:ext cx="1572768" cy="329184"/>
          </a:xfrm>
          <a:prstGeom prst="roundRect">
            <a:avLst>
              <a:gd name="adj" fmla="val 19444"/>
            </a:avLst>
          </a:prstGeom>
          <a:solidFill>
            <a:srgbClr val="1E29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32904" y="327355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 Evidence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57200" y="3931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Forensics  |  Cryptography  |  Android Forensics  |  AES-256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Forensics Investigation of WhatsApp on Android Devices</dc:title>
  <dc:subject>PptxGenJS Presentation</dc:subject>
  <dc:creator>PptxGenJS</dc:creator>
  <cp:lastModifiedBy>PptxGenJS</cp:lastModifiedBy>
  <cp:revision>1</cp:revision>
  <dcterms:created xsi:type="dcterms:W3CDTF">2026-03-17T18:08:06Z</dcterms:created>
  <dcterms:modified xsi:type="dcterms:W3CDTF">2026-03-17T18:08:06Z</dcterms:modified>
</cp:coreProperties>
</file>